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69" r:id="rId3"/>
    <p:sldId id="268" r:id="rId4"/>
    <p:sldId id="270" r:id="rId5"/>
    <p:sldId id="277" r:id="rId6"/>
    <p:sldId id="308" r:id="rId7"/>
    <p:sldId id="293" r:id="rId8"/>
    <p:sldId id="278" r:id="rId9"/>
    <p:sldId id="302" r:id="rId10"/>
    <p:sldId id="303" r:id="rId11"/>
    <p:sldId id="310" r:id="rId12"/>
    <p:sldId id="273" r:id="rId13"/>
    <p:sldId id="294" r:id="rId14"/>
    <p:sldId id="295" r:id="rId15"/>
    <p:sldId id="296" r:id="rId16"/>
    <p:sldId id="297" r:id="rId17"/>
    <p:sldId id="274" r:id="rId18"/>
    <p:sldId id="300" r:id="rId19"/>
    <p:sldId id="298" r:id="rId20"/>
    <p:sldId id="299" r:id="rId21"/>
    <p:sldId id="275" r:id="rId22"/>
    <p:sldId id="289" r:id="rId23"/>
    <p:sldId id="301" r:id="rId24"/>
    <p:sldId id="276" r:id="rId25"/>
    <p:sldId id="304" r:id="rId26"/>
    <p:sldId id="305" r:id="rId27"/>
    <p:sldId id="311" r:id="rId28"/>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Stil Yok, Kılavuz Yok">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46"/>
    <p:restoredTop sz="94822"/>
  </p:normalViewPr>
  <p:slideViewPr>
    <p:cSldViewPr snapToGrid="0">
      <p:cViewPr varScale="1">
        <p:scale>
          <a:sx n="106" d="100"/>
          <a:sy n="106" d="100"/>
        </p:scale>
        <p:origin x="2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3F288C-6902-434B-B90F-1D124F19DFD4}" type="doc">
      <dgm:prSet loTypeId="urn:microsoft.com/office/officeart/2005/8/layout/orgChart1" loCatId="" qsTypeId="urn:microsoft.com/office/officeart/2005/8/quickstyle/simple1" qsCatId="simple" csTypeId="urn:microsoft.com/office/officeart/2005/8/colors/accent0_1" csCatId="mainScheme" phldr="1"/>
      <dgm:spPr/>
      <dgm:t>
        <a:bodyPr/>
        <a:lstStyle/>
        <a:p>
          <a:endParaRPr lang="tr-TR"/>
        </a:p>
      </dgm:t>
    </dgm:pt>
    <dgm:pt modelId="{2819EAC1-1EE8-0E4C-814F-4FB7D8272FAF}">
      <dgm:prSet phldrT="[Metin]" custT="1"/>
      <dgm:spPr/>
      <dgm:t>
        <a:bodyPr/>
        <a:lstStyle/>
        <a:p>
          <a:r>
            <a:rPr lang="tr-TR" sz="1800" dirty="0">
              <a:latin typeface="Times New Roman" panose="02020603050405020304" pitchFamily="18" charset="0"/>
              <a:cs typeface="Times New Roman" panose="02020603050405020304" pitchFamily="18" charset="0"/>
            </a:rPr>
            <a:t>Makine Öğrenme Yöntemleri</a:t>
          </a:r>
        </a:p>
      </dgm:t>
    </dgm:pt>
    <dgm:pt modelId="{66537FEB-A808-7F44-8FE4-F294D91D1F3A}" type="parTrans" cxnId="{AFF6C8A4-268C-8143-9109-BC7662B9C872}">
      <dgm:prSet/>
      <dgm:spPr/>
      <dgm:t>
        <a:bodyPr/>
        <a:lstStyle/>
        <a:p>
          <a:endParaRPr lang="tr-TR" sz="1800">
            <a:latin typeface="Times New Roman" panose="02020603050405020304" pitchFamily="18" charset="0"/>
            <a:cs typeface="Times New Roman" panose="02020603050405020304" pitchFamily="18" charset="0"/>
          </a:endParaRPr>
        </a:p>
      </dgm:t>
    </dgm:pt>
    <dgm:pt modelId="{BB7A55E2-269B-034A-94D6-42FB3FE2A7CB}" type="sibTrans" cxnId="{AFF6C8A4-268C-8143-9109-BC7662B9C872}">
      <dgm:prSet/>
      <dgm:spPr/>
      <dgm:t>
        <a:bodyPr/>
        <a:lstStyle/>
        <a:p>
          <a:endParaRPr lang="tr-TR" sz="1800">
            <a:latin typeface="Times New Roman" panose="02020603050405020304" pitchFamily="18" charset="0"/>
            <a:cs typeface="Times New Roman" panose="02020603050405020304" pitchFamily="18" charset="0"/>
          </a:endParaRPr>
        </a:p>
      </dgm:t>
    </dgm:pt>
    <dgm:pt modelId="{BA08D6BA-EEBF-EA44-90BD-DCD8188372D5}">
      <dgm:prSet phldrT="[Metin]" custT="1"/>
      <dgm:spPr/>
      <dgm:t>
        <a:bodyPr/>
        <a:lstStyle/>
        <a:p>
          <a:r>
            <a:rPr lang="tr-TR" sz="1800" dirty="0">
              <a:latin typeface="Times New Roman" panose="02020603050405020304" pitchFamily="18" charset="0"/>
              <a:cs typeface="Times New Roman" panose="02020603050405020304" pitchFamily="18" charset="0"/>
            </a:rPr>
            <a:t>Denetimli Öğrenme</a:t>
          </a:r>
        </a:p>
      </dgm:t>
    </dgm:pt>
    <dgm:pt modelId="{126D5DDC-5EF3-1946-BF0B-29EB80CA5272}" type="parTrans" cxnId="{0E94590D-65A7-EE40-9795-2C4997A5EADC}">
      <dgm:prSet/>
      <dgm:spPr/>
      <dgm:t>
        <a:bodyPr/>
        <a:lstStyle/>
        <a:p>
          <a:endParaRPr lang="tr-TR" sz="1800">
            <a:latin typeface="Times New Roman" panose="02020603050405020304" pitchFamily="18" charset="0"/>
            <a:cs typeface="Times New Roman" panose="02020603050405020304" pitchFamily="18" charset="0"/>
          </a:endParaRPr>
        </a:p>
      </dgm:t>
    </dgm:pt>
    <dgm:pt modelId="{941FBEF4-9B9A-F444-98C0-0F5151213E1C}" type="sibTrans" cxnId="{0E94590D-65A7-EE40-9795-2C4997A5EADC}">
      <dgm:prSet/>
      <dgm:spPr/>
      <dgm:t>
        <a:bodyPr/>
        <a:lstStyle/>
        <a:p>
          <a:endParaRPr lang="tr-TR" sz="1800">
            <a:latin typeface="Times New Roman" panose="02020603050405020304" pitchFamily="18" charset="0"/>
            <a:cs typeface="Times New Roman" panose="02020603050405020304" pitchFamily="18" charset="0"/>
          </a:endParaRPr>
        </a:p>
      </dgm:t>
    </dgm:pt>
    <dgm:pt modelId="{D488B61F-7C21-BE4B-AA09-1F4076BBCEF1}">
      <dgm:prSet phldrT="[Metin]" custT="1"/>
      <dgm:spPr/>
      <dgm:t>
        <a:bodyPr/>
        <a:lstStyle/>
        <a:p>
          <a:r>
            <a:rPr lang="tr-TR" sz="1800" dirty="0">
              <a:latin typeface="Times New Roman" panose="02020603050405020304" pitchFamily="18" charset="0"/>
              <a:cs typeface="Times New Roman" panose="02020603050405020304" pitchFamily="18" charset="0"/>
            </a:rPr>
            <a:t>Denetimsiz Öğrenme</a:t>
          </a:r>
        </a:p>
      </dgm:t>
    </dgm:pt>
    <dgm:pt modelId="{CF1B86FE-97BD-6F4B-85D1-5672D65055BA}" type="parTrans" cxnId="{29496982-9447-0940-9096-747D58C18A12}">
      <dgm:prSet/>
      <dgm:spPr/>
      <dgm:t>
        <a:bodyPr/>
        <a:lstStyle/>
        <a:p>
          <a:endParaRPr lang="tr-TR" sz="1800">
            <a:latin typeface="Times New Roman" panose="02020603050405020304" pitchFamily="18" charset="0"/>
            <a:cs typeface="Times New Roman" panose="02020603050405020304" pitchFamily="18" charset="0"/>
          </a:endParaRPr>
        </a:p>
      </dgm:t>
    </dgm:pt>
    <dgm:pt modelId="{936CB6DE-E921-6544-B231-95E25365EC46}" type="sibTrans" cxnId="{29496982-9447-0940-9096-747D58C18A12}">
      <dgm:prSet/>
      <dgm:spPr/>
      <dgm:t>
        <a:bodyPr/>
        <a:lstStyle/>
        <a:p>
          <a:endParaRPr lang="tr-TR" sz="1800">
            <a:latin typeface="Times New Roman" panose="02020603050405020304" pitchFamily="18" charset="0"/>
            <a:cs typeface="Times New Roman" panose="02020603050405020304" pitchFamily="18" charset="0"/>
          </a:endParaRPr>
        </a:p>
      </dgm:t>
    </dgm:pt>
    <dgm:pt modelId="{8DC39491-0EF2-6942-86FA-B47878583569}">
      <dgm:prSet phldrT="[Metin]" custT="1"/>
      <dgm:spPr/>
      <dgm:t>
        <a:bodyPr/>
        <a:lstStyle/>
        <a:p>
          <a:r>
            <a:rPr lang="tr-TR" sz="1800" dirty="0">
              <a:latin typeface="Times New Roman" panose="02020603050405020304" pitchFamily="18" charset="0"/>
              <a:cs typeface="Times New Roman" panose="02020603050405020304" pitchFamily="18" charset="0"/>
            </a:rPr>
            <a:t>Yarı Denetimli Öğrenme</a:t>
          </a:r>
        </a:p>
      </dgm:t>
    </dgm:pt>
    <dgm:pt modelId="{38E3F02C-8D59-4145-AF96-23ADA5048A6A}" type="parTrans" cxnId="{95262E1C-56D0-084B-A7CD-7CC053D2A804}">
      <dgm:prSet/>
      <dgm:spPr/>
      <dgm:t>
        <a:bodyPr/>
        <a:lstStyle/>
        <a:p>
          <a:endParaRPr lang="tr-TR" sz="1800">
            <a:latin typeface="Times New Roman" panose="02020603050405020304" pitchFamily="18" charset="0"/>
            <a:cs typeface="Times New Roman" panose="02020603050405020304" pitchFamily="18" charset="0"/>
          </a:endParaRPr>
        </a:p>
      </dgm:t>
    </dgm:pt>
    <dgm:pt modelId="{F5E703C8-C9EC-A84D-92A9-0D5FECEC664C}" type="sibTrans" cxnId="{95262E1C-56D0-084B-A7CD-7CC053D2A804}">
      <dgm:prSet/>
      <dgm:spPr/>
      <dgm:t>
        <a:bodyPr/>
        <a:lstStyle/>
        <a:p>
          <a:endParaRPr lang="tr-TR" sz="1800">
            <a:latin typeface="Times New Roman" panose="02020603050405020304" pitchFamily="18" charset="0"/>
            <a:cs typeface="Times New Roman" panose="02020603050405020304" pitchFamily="18" charset="0"/>
          </a:endParaRPr>
        </a:p>
      </dgm:t>
    </dgm:pt>
    <dgm:pt modelId="{01DF157D-D07B-0945-B3F1-C62E13B979D3}">
      <dgm:prSet phldrT="[Metin]" custT="1"/>
      <dgm:spPr/>
      <dgm:t>
        <a:bodyPr/>
        <a:lstStyle/>
        <a:p>
          <a:r>
            <a:rPr lang="tr-TR" sz="1800" dirty="0">
              <a:latin typeface="Times New Roman" panose="02020603050405020304" pitchFamily="18" charset="0"/>
              <a:cs typeface="Times New Roman" panose="02020603050405020304" pitchFamily="18" charset="0"/>
            </a:rPr>
            <a:t>Takviyeli Öğrenme</a:t>
          </a:r>
        </a:p>
      </dgm:t>
    </dgm:pt>
    <dgm:pt modelId="{936862E6-7D87-9445-8378-CD2DF3FD5CFA}" type="parTrans" cxnId="{9482F1C0-B604-A542-8B7A-67BEC28D8B8F}">
      <dgm:prSet/>
      <dgm:spPr/>
      <dgm:t>
        <a:bodyPr/>
        <a:lstStyle/>
        <a:p>
          <a:endParaRPr lang="tr-TR" sz="1800">
            <a:latin typeface="Times New Roman" panose="02020603050405020304" pitchFamily="18" charset="0"/>
            <a:cs typeface="Times New Roman" panose="02020603050405020304" pitchFamily="18" charset="0"/>
          </a:endParaRPr>
        </a:p>
      </dgm:t>
    </dgm:pt>
    <dgm:pt modelId="{0F4F3D00-47A6-3940-8895-AE46996BD259}" type="sibTrans" cxnId="{9482F1C0-B604-A542-8B7A-67BEC28D8B8F}">
      <dgm:prSet/>
      <dgm:spPr/>
      <dgm:t>
        <a:bodyPr/>
        <a:lstStyle/>
        <a:p>
          <a:endParaRPr lang="tr-TR" sz="1800">
            <a:latin typeface="Times New Roman" panose="02020603050405020304" pitchFamily="18" charset="0"/>
            <a:cs typeface="Times New Roman" panose="02020603050405020304" pitchFamily="18" charset="0"/>
          </a:endParaRPr>
        </a:p>
      </dgm:t>
    </dgm:pt>
    <dgm:pt modelId="{88CE1B30-8A50-2046-AE12-31A029A342CC}" type="pres">
      <dgm:prSet presAssocID="{503F288C-6902-434B-B90F-1D124F19DFD4}" presName="hierChild1" presStyleCnt="0">
        <dgm:presLayoutVars>
          <dgm:orgChart val="1"/>
          <dgm:chPref val="1"/>
          <dgm:dir/>
          <dgm:animOne val="branch"/>
          <dgm:animLvl val="lvl"/>
          <dgm:resizeHandles/>
        </dgm:presLayoutVars>
      </dgm:prSet>
      <dgm:spPr/>
    </dgm:pt>
    <dgm:pt modelId="{097538D4-1C6C-4049-8B83-9BF475B7A9AC}" type="pres">
      <dgm:prSet presAssocID="{2819EAC1-1EE8-0E4C-814F-4FB7D8272FAF}" presName="hierRoot1" presStyleCnt="0">
        <dgm:presLayoutVars>
          <dgm:hierBranch val="init"/>
        </dgm:presLayoutVars>
      </dgm:prSet>
      <dgm:spPr/>
    </dgm:pt>
    <dgm:pt modelId="{F9A917D2-B77D-3C46-ABDF-5D3A5C27AF8D}" type="pres">
      <dgm:prSet presAssocID="{2819EAC1-1EE8-0E4C-814F-4FB7D8272FAF}" presName="rootComposite1" presStyleCnt="0"/>
      <dgm:spPr/>
    </dgm:pt>
    <dgm:pt modelId="{BB973358-5E72-F644-8A08-CAAF345A70A1}" type="pres">
      <dgm:prSet presAssocID="{2819EAC1-1EE8-0E4C-814F-4FB7D8272FAF}" presName="rootText1" presStyleLbl="node0" presStyleIdx="0" presStyleCnt="1">
        <dgm:presLayoutVars>
          <dgm:chPref val="3"/>
        </dgm:presLayoutVars>
      </dgm:prSet>
      <dgm:spPr/>
    </dgm:pt>
    <dgm:pt modelId="{AAFA3FC4-E6F4-B64A-960B-84995AF93BB8}" type="pres">
      <dgm:prSet presAssocID="{2819EAC1-1EE8-0E4C-814F-4FB7D8272FAF}" presName="rootConnector1" presStyleLbl="node1" presStyleIdx="0" presStyleCnt="0"/>
      <dgm:spPr/>
    </dgm:pt>
    <dgm:pt modelId="{22E644D9-B08C-C442-9E67-EC892CA6178E}" type="pres">
      <dgm:prSet presAssocID="{2819EAC1-1EE8-0E4C-814F-4FB7D8272FAF}" presName="hierChild2" presStyleCnt="0"/>
      <dgm:spPr/>
    </dgm:pt>
    <dgm:pt modelId="{190562F1-76F1-5D46-9C4C-E614504F937F}" type="pres">
      <dgm:prSet presAssocID="{126D5DDC-5EF3-1946-BF0B-29EB80CA5272}" presName="Name37" presStyleLbl="parChTrans1D2" presStyleIdx="0" presStyleCnt="4"/>
      <dgm:spPr/>
    </dgm:pt>
    <dgm:pt modelId="{290C7B5F-8CD4-BF4A-BE56-D2FA419CA98B}" type="pres">
      <dgm:prSet presAssocID="{BA08D6BA-EEBF-EA44-90BD-DCD8188372D5}" presName="hierRoot2" presStyleCnt="0">
        <dgm:presLayoutVars>
          <dgm:hierBranch val="init"/>
        </dgm:presLayoutVars>
      </dgm:prSet>
      <dgm:spPr/>
    </dgm:pt>
    <dgm:pt modelId="{74F55876-B4B1-0F46-B517-DEB83CF8280D}" type="pres">
      <dgm:prSet presAssocID="{BA08D6BA-EEBF-EA44-90BD-DCD8188372D5}" presName="rootComposite" presStyleCnt="0"/>
      <dgm:spPr/>
    </dgm:pt>
    <dgm:pt modelId="{ACE73563-B0EB-4A41-AA7C-75EFFA4335CC}" type="pres">
      <dgm:prSet presAssocID="{BA08D6BA-EEBF-EA44-90BD-DCD8188372D5}" presName="rootText" presStyleLbl="node2" presStyleIdx="0" presStyleCnt="4">
        <dgm:presLayoutVars>
          <dgm:chPref val="3"/>
        </dgm:presLayoutVars>
      </dgm:prSet>
      <dgm:spPr/>
    </dgm:pt>
    <dgm:pt modelId="{131A08E3-7306-834A-A165-05398C25D333}" type="pres">
      <dgm:prSet presAssocID="{BA08D6BA-EEBF-EA44-90BD-DCD8188372D5}" presName="rootConnector" presStyleLbl="node2" presStyleIdx="0" presStyleCnt="4"/>
      <dgm:spPr/>
    </dgm:pt>
    <dgm:pt modelId="{811C2820-5A75-B247-B06C-5CE8EC2AFDB3}" type="pres">
      <dgm:prSet presAssocID="{BA08D6BA-EEBF-EA44-90BD-DCD8188372D5}" presName="hierChild4" presStyleCnt="0"/>
      <dgm:spPr/>
    </dgm:pt>
    <dgm:pt modelId="{0C0FD997-84D3-0944-92FF-D0A851EF166E}" type="pres">
      <dgm:prSet presAssocID="{BA08D6BA-EEBF-EA44-90BD-DCD8188372D5}" presName="hierChild5" presStyleCnt="0"/>
      <dgm:spPr/>
    </dgm:pt>
    <dgm:pt modelId="{70E292A1-1A0B-5C4B-94A6-370BB86B739B}" type="pres">
      <dgm:prSet presAssocID="{CF1B86FE-97BD-6F4B-85D1-5672D65055BA}" presName="Name37" presStyleLbl="parChTrans1D2" presStyleIdx="1" presStyleCnt="4"/>
      <dgm:spPr/>
    </dgm:pt>
    <dgm:pt modelId="{D0AB5005-B17D-6B4D-8192-E4FFF1395106}" type="pres">
      <dgm:prSet presAssocID="{D488B61F-7C21-BE4B-AA09-1F4076BBCEF1}" presName="hierRoot2" presStyleCnt="0">
        <dgm:presLayoutVars>
          <dgm:hierBranch val="init"/>
        </dgm:presLayoutVars>
      </dgm:prSet>
      <dgm:spPr/>
    </dgm:pt>
    <dgm:pt modelId="{6555FCAE-444A-5F44-9044-A3A399F7B90B}" type="pres">
      <dgm:prSet presAssocID="{D488B61F-7C21-BE4B-AA09-1F4076BBCEF1}" presName="rootComposite" presStyleCnt="0"/>
      <dgm:spPr/>
    </dgm:pt>
    <dgm:pt modelId="{F79A01CE-0EDD-A349-ADD6-E34F40401FCB}" type="pres">
      <dgm:prSet presAssocID="{D488B61F-7C21-BE4B-AA09-1F4076BBCEF1}" presName="rootText" presStyleLbl="node2" presStyleIdx="1" presStyleCnt="4">
        <dgm:presLayoutVars>
          <dgm:chPref val="3"/>
        </dgm:presLayoutVars>
      </dgm:prSet>
      <dgm:spPr/>
    </dgm:pt>
    <dgm:pt modelId="{EB71AB17-2A9D-2D4D-8EE9-3E9A7F1AD076}" type="pres">
      <dgm:prSet presAssocID="{D488B61F-7C21-BE4B-AA09-1F4076BBCEF1}" presName="rootConnector" presStyleLbl="node2" presStyleIdx="1" presStyleCnt="4"/>
      <dgm:spPr/>
    </dgm:pt>
    <dgm:pt modelId="{E7AA0D08-D989-5146-903E-A28B6FA2BF6D}" type="pres">
      <dgm:prSet presAssocID="{D488B61F-7C21-BE4B-AA09-1F4076BBCEF1}" presName="hierChild4" presStyleCnt="0"/>
      <dgm:spPr/>
    </dgm:pt>
    <dgm:pt modelId="{706460AF-51F9-AE44-9022-4FDE07766BA5}" type="pres">
      <dgm:prSet presAssocID="{D488B61F-7C21-BE4B-AA09-1F4076BBCEF1}" presName="hierChild5" presStyleCnt="0"/>
      <dgm:spPr/>
    </dgm:pt>
    <dgm:pt modelId="{D2D60D9A-466F-8341-8AFD-C51397ECBF0A}" type="pres">
      <dgm:prSet presAssocID="{38E3F02C-8D59-4145-AF96-23ADA5048A6A}" presName="Name37" presStyleLbl="parChTrans1D2" presStyleIdx="2" presStyleCnt="4"/>
      <dgm:spPr/>
    </dgm:pt>
    <dgm:pt modelId="{F1DE8A93-1924-FD43-8435-83A94E4074CE}" type="pres">
      <dgm:prSet presAssocID="{8DC39491-0EF2-6942-86FA-B47878583569}" presName="hierRoot2" presStyleCnt="0">
        <dgm:presLayoutVars>
          <dgm:hierBranch val="init"/>
        </dgm:presLayoutVars>
      </dgm:prSet>
      <dgm:spPr/>
    </dgm:pt>
    <dgm:pt modelId="{29EAD7E2-E3DB-054D-B377-BA163052A699}" type="pres">
      <dgm:prSet presAssocID="{8DC39491-0EF2-6942-86FA-B47878583569}" presName="rootComposite" presStyleCnt="0"/>
      <dgm:spPr/>
    </dgm:pt>
    <dgm:pt modelId="{CA24CC55-300C-8C4F-9579-049B340F99CF}" type="pres">
      <dgm:prSet presAssocID="{8DC39491-0EF2-6942-86FA-B47878583569}" presName="rootText" presStyleLbl="node2" presStyleIdx="2" presStyleCnt="4">
        <dgm:presLayoutVars>
          <dgm:chPref val="3"/>
        </dgm:presLayoutVars>
      </dgm:prSet>
      <dgm:spPr/>
    </dgm:pt>
    <dgm:pt modelId="{DEADDB0C-C15E-CB4D-98F5-DF22C56882B9}" type="pres">
      <dgm:prSet presAssocID="{8DC39491-0EF2-6942-86FA-B47878583569}" presName="rootConnector" presStyleLbl="node2" presStyleIdx="2" presStyleCnt="4"/>
      <dgm:spPr/>
    </dgm:pt>
    <dgm:pt modelId="{3663D8CD-F34F-764F-8AB8-2FC391703B9E}" type="pres">
      <dgm:prSet presAssocID="{8DC39491-0EF2-6942-86FA-B47878583569}" presName="hierChild4" presStyleCnt="0"/>
      <dgm:spPr/>
    </dgm:pt>
    <dgm:pt modelId="{6F3652FF-6C15-334F-B4EE-5F9A97ACE51E}" type="pres">
      <dgm:prSet presAssocID="{8DC39491-0EF2-6942-86FA-B47878583569}" presName="hierChild5" presStyleCnt="0"/>
      <dgm:spPr/>
    </dgm:pt>
    <dgm:pt modelId="{9EBDE8C8-9049-074D-8619-4FB7DF8F5822}" type="pres">
      <dgm:prSet presAssocID="{936862E6-7D87-9445-8378-CD2DF3FD5CFA}" presName="Name37" presStyleLbl="parChTrans1D2" presStyleIdx="3" presStyleCnt="4"/>
      <dgm:spPr/>
    </dgm:pt>
    <dgm:pt modelId="{75E3125D-CFBF-EA49-8D66-3A5886F4420A}" type="pres">
      <dgm:prSet presAssocID="{01DF157D-D07B-0945-B3F1-C62E13B979D3}" presName="hierRoot2" presStyleCnt="0">
        <dgm:presLayoutVars>
          <dgm:hierBranch val="init"/>
        </dgm:presLayoutVars>
      </dgm:prSet>
      <dgm:spPr/>
    </dgm:pt>
    <dgm:pt modelId="{91FB9F10-0027-324D-9D85-1C3B4092D375}" type="pres">
      <dgm:prSet presAssocID="{01DF157D-D07B-0945-B3F1-C62E13B979D3}" presName="rootComposite" presStyleCnt="0"/>
      <dgm:spPr/>
    </dgm:pt>
    <dgm:pt modelId="{415C3147-2AFC-2646-B432-19E95495347B}" type="pres">
      <dgm:prSet presAssocID="{01DF157D-D07B-0945-B3F1-C62E13B979D3}" presName="rootText" presStyleLbl="node2" presStyleIdx="3" presStyleCnt="4">
        <dgm:presLayoutVars>
          <dgm:chPref val="3"/>
        </dgm:presLayoutVars>
      </dgm:prSet>
      <dgm:spPr/>
    </dgm:pt>
    <dgm:pt modelId="{AC936709-BBC0-894D-9C0F-C9032A296BCE}" type="pres">
      <dgm:prSet presAssocID="{01DF157D-D07B-0945-B3F1-C62E13B979D3}" presName="rootConnector" presStyleLbl="node2" presStyleIdx="3" presStyleCnt="4"/>
      <dgm:spPr/>
    </dgm:pt>
    <dgm:pt modelId="{14ADB2AC-EE9C-0A48-95DB-EFA08D21889A}" type="pres">
      <dgm:prSet presAssocID="{01DF157D-D07B-0945-B3F1-C62E13B979D3}" presName="hierChild4" presStyleCnt="0"/>
      <dgm:spPr/>
    </dgm:pt>
    <dgm:pt modelId="{6D4321AE-F6BD-7047-A459-58DCB5B229A7}" type="pres">
      <dgm:prSet presAssocID="{01DF157D-D07B-0945-B3F1-C62E13B979D3}" presName="hierChild5" presStyleCnt="0"/>
      <dgm:spPr/>
    </dgm:pt>
    <dgm:pt modelId="{E06362F3-86DD-F843-9CF4-19DA20B1B39F}" type="pres">
      <dgm:prSet presAssocID="{2819EAC1-1EE8-0E4C-814F-4FB7D8272FAF}" presName="hierChild3" presStyleCnt="0"/>
      <dgm:spPr/>
    </dgm:pt>
  </dgm:ptLst>
  <dgm:cxnLst>
    <dgm:cxn modelId="{0E94590D-65A7-EE40-9795-2C4997A5EADC}" srcId="{2819EAC1-1EE8-0E4C-814F-4FB7D8272FAF}" destId="{BA08D6BA-EEBF-EA44-90BD-DCD8188372D5}" srcOrd="0" destOrd="0" parTransId="{126D5DDC-5EF3-1946-BF0B-29EB80CA5272}" sibTransId="{941FBEF4-9B9A-F444-98C0-0F5151213E1C}"/>
    <dgm:cxn modelId="{2469350E-CA70-B143-B5C7-60D171A9B4BF}" type="presOf" srcId="{CF1B86FE-97BD-6F4B-85D1-5672D65055BA}" destId="{70E292A1-1A0B-5C4B-94A6-370BB86B739B}" srcOrd="0" destOrd="0" presId="urn:microsoft.com/office/officeart/2005/8/layout/orgChart1"/>
    <dgm:cxn modelId="{38EA9917-8232-634F-B30E-AD89C35A2E11}" type="presOf" srcId="{BA08D6BA-EEBF-EA44-90BD-DCD8188372D5}" destId="{131A08E3-7306-834A-A165-05398C25D333}" srcOrd="1" destOrd="0" presId="urn:microsoft.com/office/officeart/2005/8/layout/orgChart1"/>
    <dgm:cxn modelId="{D9AC2B1C-68AF-BD48-ACE7-3F1EEADD5B67}" type="presOf" srcId="{01DF157D-D07B-0945-B3F1-C62E13B979D3}" destId="{AC936709-BBC0-894D-9C0F-C9032A296BCE}" srcOrd="1" destOrd="0" presId="urn:microsoft.com/office/officeart/2005/8/layout/orgChart1"/>
    <dgm:cxn modelId="{95262E1C-56D0-084B-A7CD-7CC053D2A804}" srcId="{2819EAC1-1EE8-0E4C-814F-4FB7D8272FAF}" destId="{8DC39491-0EF2-6942-86FA-B47878583569}" srcOrd="2" destOrd="0" parTransId="{38E3F02C-8D59-4145-AF96-23ADA5048A6A}" sibTransId="{F5E703C8-C9EC-A84D-92A9-0D5FECEC664C}"/>
    <dgm:cxn modelId="{D9F85325-7765-544D-A7B2-F8AF33341DFD}" type="presOf" srcId="{D488B61F-7C21-BE4B-AA09-1F4076BBCEF1}" destId="{F79A01CE-0EDD-A349-ADD6-E34F40401FCB}" srcOrd="0" destOrd="0" presId="urn:microsoft.com/office/officeart/2005/8/layout/orgChart1"/>
    <dgm:cxn modelId="{8D4EB740-235C-2B4E-A97D-572736B489C4}" type="presOf" srcId="{8DC39491-0EF2-6942-86FA-B47878583569}" destId="{DEADDB0C-C15E-CB4D-98F5-DF22C56882B9}" srcOrd="1" destOrd="0" presId="urn:microsoft.com/office/officeart/2005/8/layout/orgChart1"/>
    <dgm:cxn modelId="{30930152-8448-8446-A0B5-E2763EFADEC2}" type="presOf" srcId="{2819EAC1-1EE8-0E4C-814F-4FB7D8272FAF}" destId="{BB973358-5E72-F644-8A08-CAAF345A70A1}" srcOrd="0" destOrd="0" presId="urn:microsoft.com/office/officeart/2005/8/layout/orgChart1"/>
    <dgm:cxn modelId="{31871453-D2C6-1A4C-B17F-C79DD6B55AE2}" type="presOf" srcId="{936862E6-7D87-9445-8378-CD2DF3FD5CFA}" destId="{9EBDE8C8-9049-074D-8619-4FB7DF8F5822}" srcOrd="0" destOrd="0" presId="urn:microsoft.com/office/officeart/2005/8/layout/orgChart1"/>
    <dgm:cxn modelId="{E0521B60-6650-154B-8B7C-B966772F8582}" type="presOf" srcId="{01DF157D-D07B-0945-B3F1-C62E13B979D3}" destId="{415C3147-2AFC-2646-B432-19E95495347B}" srcOrd="0" destOrd="0" presId="urn:microsoft.com/office/officeart/2005/8/layout/orgChart1"/>
    <dgm:cxn modelId="{29496982-9447-0940-9096-747D58C18A12}" srcId="{2819EAC1-1EE8-0E4C-814F-4FB7D8272FAF}" destId="{D488B61F-7C21-BE4B-AA09-1F4076BBCEF1}" srcOrd="1" destOrd="0" parTransId="{CF1B86FE-97BD-6F4B-85D1-5672D65055BA}" sibTransId="{936CB6DE-E921-6544-B231-95E25365EC46}"/>
    <dgm:cxn modelId="{9677DF8B-D2D9-3D40-93EC-4F51D46BA3E5}" type="presOf" srcId="{126D5DDC-5EF3-1946-BF0B-29EB80CA5272}" destId="{190562F1-76F1-5D46-9C4C-E614504F937F}" srcOrd="0" destOrd="0" presId="urn:microsoft.com/office/officeart/2005/8/layout/orgChart1"/>
    <dgm:cxn modelId="{5220A893-35A6-504D-A925-00B241A986CA}" type="presOf" srcId="{D488B61F-7C21-BE4B-AA09-1F4076BBCEF1}" destId="{EB71AB17-2A9D-2D4D-8EE9-3E9A7F1AD076}" srcOrd="1" destOrd="0" presId="urn:microsoft.com/office/officeart/2005/8/layout/orgChart1"/>
    <dgm:cxn modelId="{1CC94AA4-3AA2-1D4A-8F01-25F70AFA7ACE}" type="presOf" srcId="{8DC39491-0EF2-6942-86FA-B47878583569}" destId="{CA24CC55-300C-8C4F-9579-049B340F99CF}" srcOrd="0" destOrd="0" presId="urn:microsoft.com/office/officeart/2005/8/layout/orgChart1"/>
    <dgm:cxn modelId="{AFF6C8A4-268C-8143-9109-BC7662B9C872}" srcId="{503F288C-6902-434B-B90F-1D124F19DFD4}" destId="{2819EAC1-1EE8-0E4C-814F-4FB7D8272FAF}" srcOrd="0" destOrd="0" parTransId="{66537FEB-A808-7F44-8FE4-F294D91D1F3A}" sibTransId="{BB7A55E2-269B-034A-94D6-42FB3FE2A7CB}"/>
    <dgm:cxn modelId="{FD91AFAB-D368-AE43-A602-6B4424258BF2}" type="presOf" srcId="{BA08D6BA-EEBF-EA44-90BD-DCD8188372D5}" destId="{ACE73563-B0EB-4A41-AA7C-75EFFA4335CC}" srcOrd="0" destOrd="0" presId="urn:microsoft.com/office/officeart/2005/8/layout/orgChart1"/>
    <dgm:cxn modelId="{9E71C8AC-218E-9846-A138-8EC7210D2C9E}" type="presOf" srcId="{2819EAC1-1EE8-0E4C-814F-4FB7D8272FAF}" destId="{AAFA3FC4-E6F4-B64A-960B-84995AF93BB8}" srcOrd="1" destOrd="0" presId="urn:microsoft.com/office/officeart/2005/8/layout/orgChart1"/>
    <dgm:cxn modelId="{9482F1C0-B604-A542-8B7A-67BEC28D8B8F}" srcId="{2819EAC1-1EE8-0E4C-814F-4FB7D8272FAF}" destId="{01DF157D-D07B-0945-B3F1-C62E13B979D3}" srcOrd="3" destOrd="0" parTransId="{936862E6-7D87-9445-8378-CD2DF3FD5CFA}" sibTransId="{0F4F3D00-47A6-3940-8895-AE46996BD259}"/>
    <dgm:cxn modelId="{4F6898D6-21D9-FA47-B506-E248A3EF2341}" type="presOf" srcId="{503F288C-6902-434B-B90F-1D124F19DFD4}" destId="{88CE1B30-8A50-2046-AE12-31A029A342CC}" srcOrd="0" destOrd="0" presId="urn:microsoft.com/office/officeart/2005/8/layout/orgChart1"/>
    <dgm:cxn modelId="{4E9560F2-7C44-2641-BBB3-6AA806E26AE3}" type="presOf" srcId="{38E3F02C-8D59-4145-AF96-23ADA5048A6A}" destId="{D2D60D9A-466F-8341-8AFD-C51397ECBF0A}" srcOrd="0" destOrd="0" presId="urn:microsoft.com/office/officeart/2005/8/layout/orgChart1"/>
    <dgm:cxn modelId="{D956D5E9-48D6-D340-ABA9-B85B066D2F1B}" type="presParOf" srcId="{88CE1B30-8A50-2046-AE12-31A029A342CC}" destId="{097538D4-1C6C-4049-8B83-9BF475B7A9AC}" srcOrd="0" destOrd="0" presId="urn:microsoft.com/office/officeart/2005/8/layout/orgChart1"/>
    <dgm:cxn modelId="{7EBDDECE-33CD-1743-8E3E-79F08018D394}" type="presParOf" srcId="{097538D4-1C6C-4049-8B83-9BF475B7A9AC}" destId="{F9A917D2-B77D-3C46-ABDF-5D3A5C27AF8D}" srcOrd="0" destOrd="0" presId="urn:microsoft.com/office/officeart/2005/8/layout/orgChart1"/>
    <dgm:cxn modelId="{85126046-9578-FD42-AF39-B3EF32ABC7BF}" type="presParOf" srcId="{F9A917D2-B77D-3C46-ABDF-5D3A5C27AF8D}" destId="{BB973358-5E72-F644-8A08-CAAF345A70A1}" srcOrd="0" destOrd="0" presId="urn:microsoft.com/office/officeart/2005/8/layout/orgChart1"/>
    <dgm:cxn modelId="{ED3483F0-A50B-2A49-A62F-341AF7DD9DE4}" type="presParOf" srcId="{F9A917D2-B77D-3C46-ABDF-5D3A5C27AF8D}" destId="{AAFA3FC4-E6F4-B64A-960B-84995AF93BB8}" srcOrd="1" destOrd="0" presId="urn:microsoft.com/office/officeart/2005/8/layout/orgChart1"/>
    <dgm:cxn modelId="{9F9B1307-C143-7A48-9BC5-CC0580ABC7E7}" type="presParOf" srcId="{097538D4-1C6C-4049-8B83-9BF475B7A9AC}" destId="{22E644D9-B08C-C442-9E67-EC892CA6178E}" srcOrd="1" destOrd="0" presId="urn:microsoft.com/office/officeart/2005/8/layout/orgChart1"/>
    <dgm:cxn modelId="{A3DA16A2-927C-D944-97D1-228C7F46ADA9}" type="presParOf" srcId="{22E644D9-B08C-C442-9E67-EC892CA6178E}" destId="{190562F1-76F1-5D46-9C4C-E614504F937F}" srcOrd="0" destOrd="0" presId="urn:microsoft.com/office/officeart/2005/8/layout/orgChart1"/>
    <dgm:cxn modelId="{DE00D270-9C86-764A-8650-098E284FDCCD}" type="presParOf" srcId="{22E644D9-B08C-C442-9E67-EC892CA6178E}" destId="{290C7B5F-8CD4-BF4A-BE56-D2FA419CA98B}" srcOrd="1" destOrd="0" presId="urn:microsoft.com/office/officeart/2005/8/layout/orgChart1"/>
    <dgm:cxn modelId="{400CA6EF-B85B-FB4A-AB9F-2AA4A5028BE5}" type="presParOf" srcId="{290C7B5F-8CD4-BF4A-BE56-D2FA419CA98B}" destId="{74F55876-B4B1-0F46-B517-DEB83CF8280D}" srcOrd="0" destOrd="0" presId="urn:microsoft.com/office/officeart/2005/8/layout/orgChart1"/>
    <dgm:cxn modelId="{91A9EEC4-338A-0F4F-81DD-6ED0724A6DF7}" type="presParOf" srcId="{74F55876-B4B1-0F46-B517-DEB83CF8280D}" destId="{ACE73563-B0EB-4A41-AA7C-75EFFA4335CC}" srcOrd="0" destOrd="0" presId="urn:microsoft.com/office/officeart/2005/8/layout/orgChart1"/>
    <dgm:cxn modelId="{BE0EE005-E0E6-5748-AB7B-C0C4AD79F044}" type="presParOf" srcId="{74F55876-B4B1-0F46-B517-DEB83CF8280D}" destId="{131A08E3-7306-834A-A165-05398C25D333}" srcOrd="1" destOrd="0" presId="urn:microsoft.com/office/officeart/2005/8/layout/orgChart1"/>
    <dgm:cxn modelId="{813EE74D-5222-5447-A875-5268381C1F29}" type="presParOf" srcId="{290C7B5F-8CD4-BF4A-BE56-D2FA419CA98B}" destId="{811C2820-5A75-B247-B06C-5CE8EC2AFDB3}" srcOrd="1" destOrd="0" presId="urn:microsoft.com/office/officeart/2005/8/layout/orgChart1"/>
    <dgm:cxn modelId="{087BF766-E790-984F-9926-00BB62557C4E}" type="presParOf" srcId="{290C7B5F-8CD4-BF4A-BE56-D2FA419CA98B}" destId="{0C0FD997-84D3-0944-92FF-D0A851EF166E}" srcOrd="2" destOrd="0" presId="urn:microsoft.com/office/officeart/2005/8/layout/orgChart1"/>
    <dgm:cxn modelId="{F83412F6-2DED-BC43-BDE4-5F9BEF07F0B1}" type="presParOf" srcId="{22E644D9-B08C-C442-9E67-EC892CA6178E}" destId="{70E292A1-1A0B-5C4B-94A6-370BB86B739B}" srcOrd="2" destOrd="0" presId="urn:microsoft.com/office/officeart/2005/8/layout/orgChart1"/>
    <dgm:cxn modelId="{B5F246DD-B0AE-7649-ADDA-494CAF67B0AB}" type="presParOf" srcId="{22E644D9-B08C-C442-9E67-EC892CA6178E}" destId="{D0AB5005-B17D-6B4D-8192-E4FFF1395106}" srcOrd="3" destOrd="0" presId="urn:microsoft.com/office/officeart/2005/8/layout/orgChart1"/>
    <dgm:cxn modelId="{BC1E3EB3-CD44-1B43-94EB-494D17A1CC95}" type="presParOf" srcId="{D0AB5005-B17D-6B4D-8192-E4FFF1395106}" destId="{6555FCAE-444A-5F44-9044-A3A399F7B90B}" srcOrd="0" destOrd="0" presId="urn:microsoft.com/office/officeart/2005/8/layout/orgChart1"/>
    <dgm:cxn modelId="{E3442CF2-5FE7-BD45-846D-D5FABCDE3848}" type="presParOf" srcId="{6555FCAE-444A-5F44-9044-A3A399F7B90B}" destId="{F79A01CE-0EDD-A349-ADD6-E34F40401FCB}" srcOrd="0" destOrd="0" presId="urn:microsoft.com/office/officeart/2005/8/layout/orgChart1"/>
    <dgm:cxn modelId="{E1EFE9CD-BA97-604F-A3BC-8EB9DF78CBDE}" type="presParOf" srcId="{6555FCAE-444A-5F44-9044-A3A399F7B90B}" destId="{EB71AB17-2A9D-2D4D-8EE9-3E9A7F1AD076}" srcOrd="1" destOrd="0" presId="urn:microsoft.com/office/officeart/2005/8/layout/orgChart1"/>
    <dgm:cxn modelId="{B2849799-C79E-AF4B-B035-68ABC86C621F}" type="presParOf" srcId="{D0AB5005-B17D-6B4D-8192-E4FFF1395106}" destId="{E7AA0D08-D989-5146-903E-A28B6FA2BF6D}" srcOrd="1" destOrd="0" presId="urn:microsoft.com/office/officeart/2005/8/layout/orgChart1"/>
    <dgm:cxn modelId="{F6478C50-C619-B84E-8BD8-3921C0AD6D22}" type="presParOf" srcId="{D0AB5005-B17D-6B4D-8192-E4FFF1395106}" destId="{706460AF-51F9-AE44-9022-4FDE07766BA5}" srcOrd="2" destOrd="0" presId="urn:microsoft.com/office/officeart/2005/8/layout/orgChart1"/>
    <dgm:cxn modelId="{9E77E87F-53FE-084E-921D-350E88FD7B70}" type="presParOf" srcId="{22E644D9-B08C-C442-9E67-EC892CA6178E}" destId="{D2D60D9A-466F-8341-8AFD-C51397ECBF0A}" srcOrd="4" destOrd="0" presId="urn:microsoft.com/office/officeart/2005/8/layout/orgChart1"/>
    <dgm:cxn modelId="{98D5D78E-9E7B-F444-9808-F4FF953DA8C3}" type="presParOf" srcId="{22E644D9-B08C-C442-9E67-EC892CA6178E}" destId="{F1DE8A93-1924-FD43-8435-83A94E4074CE}" srcOrd="5" destOrd="0" presId="urn:microsoft.com/office/officeart/2005/8/layout/orgChart1"/>
    <dgm:cxn modelId="{F386B766-4799-0B46-BFA4-69ABF1276FCB}" type="presParOf" srcId="{F1DE8A93-1924-FD43-8435-83A94E4074CE}" destId="{29EAD7E2-E3DB-054D-B377-BA163052A699}" srcOrd="0" destOrd="0" presId="urn:microsoft.com/office/officeart/2005/8/layout/orgChart1"/>
    <dgm:cxn modelId="{18127C58-16C5-9F4F-8093-B8F8066EE3B2}" type="presParOf" srcId="{29EAD7E2-E3DB-054D-B377-BA163052A699}" destId="{CA24CC55-300C-8C4F-9579-049B340F99CF}" srcOrd="0" destOrd="0" presId="urn:microsoft.com/office/officeart/2005/8/layout/orgChart1"/>
    <dgm:cxn modelId="{901C415C-ED39-4842-B074-071F95824180}" type="presParOf" srcId="{29EAD7E2-E3DB-054D-B377-BA163052A699}" destId="{DEADDB0C-C15E-CB4D-98F5-DF22C56882B9}" srcOrd="1" destOrd="0" presId="urn:microsoft.com/office/officeart/2005/8/layout/orgChart1"/>
    <dgm:cxn modelId="{46CCB2ED-B0F9-534E-A312-B5208E419B45}" type="presParOf" srcId="{F1DE8A93-1924-FD43-8435-83A94E4074CE}" destId="{3663D8CD-F34F-764F-8AB8-2FC391703B9E}" srcOrd="1" destOrd="0" presId="urn:microsoft.com/office/officeart/2005/8/layout/orgChart1"/>
    <dgm:cxn modelId="{1A4A8830-EDAA-8B46-A8CA-E9FBDADBB45B}" type="presParOf" srcId="{F1DE8A93-1924-FD43-8435-83A94E4074CE}" destId="{6F3652FF-6C15-334F-B4EE-5F9A97ACE51E}" srcOrd="2" destOrd="0" presId="urn:microsoft.com/office/officeart/2005/8/layout/orgChart1"/>
    <dgm:cxn modelId="{03978BA8-CAEC-EE4D-8671-FE5DDA1F5E5B}" type="presParOf" srcId="{22E644D9-B08C-C442-9E67-EC892CA6178E}" destId="{9EBDE8C8-9049-074D-8619-4FB7DF8F5822}" srcOrd="6" destOrd="0" presId="urn:microsoft.com/office/officeart/2005/8/layout/orgChart1"/>
    <dgm:cxn modelId="{4119D945-D371-BD4D-8419-AF7B846CF8D0}" type="presParOf" srcId="{22E644D9-B08C-C442-9E67-EC892CA6178E}" destId="{75E3125D-CFBF-EA49-8D66-3A5886F4420A}" srcOrd="7" destOrd="0" presId="urn:microsoft.com/office/officeart/2005/8/layout/orgChart1"/>
    <dgm:cxn modelId="{E305A073-6128-104E-AB4A-917ACF7AEE39}" type="presParOf" srcId="{75E3125D-CFBF-EA49-8D66-3A5886F4420A}" destId="{91FB9F10-0027-324D-9D85-1C3B4092D375}" srcOrd="0" destOrd="0" presId="urn:microsoft.com/office/officeart/2005/8/layout/orgChart1"/>
    <dgm:cxn modelId="{B052A958-23EC-5847-A2AE-A8DD88A657EE}" type="presParOf" srcId="{91FB9F10-0027-324D-9D85-1C3B4092D375}" destId="{415C3147-2AFC-2646-B432-19E95495347B}" srcOrd="0" destOrd="0" presId="urn:microsoft.com/office/officeart/2005/8/layout/orgChart1"/>
    <dgm:cxn modelId="{471F064A-3B80-A540-AC7F-95DEFE6740BD}" type="presParOf" srcId="{91FB9F10-0027-324D-9D85-1C3B4092D375}" destId="{AC936709-BBC0-894D-9C0F-C9032A296BCE}" srcOrd="1" destOrd="0" presId="urn:microsoft.com/office/officeart/2005/8/layout/orgChart1"/>
    <dgm:cxn modelId="{F9040480-B379-A94C-B1EC-1373712D030C}" type="presParOf" srcId="{75E3125D-CFBF-EA49-8D66-3A5886F4420A}" destId="{14ADB2AC-EE9C-0A48-95DB-EFA08D21889A}" srcOrd="1" destOrd="0" presId="urn:microsoft.com/office/officeart/2005/8/layout/orgChart1"/>
    <dgm:cxn modelId="{E7BCF26A-2252-2943-9D11-814A26A30692}" type="presParOf" srcId="{75E3125D-CFBF-EA49-8D66-3A5886F4420A}" destId="{6D4321AE-F6BD-7047-A459-58DCB5B229A7}" srcOrd="2" destOrd="0" presId="urn:microsoft.com/office/officeart/2005/8/layout/orgChart1"/>
    <dgm:cxn modelId="{6C7250AD-C893-1849-B5CC-86A3A8EAD2F7}" type="presParOf" srcId="{097538D4-1C6C-4049-8B83-9BF475B7A9AC}" destId="{E06362F3-86DD-F843-9CF4-19DA20B1B39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BDE8C8-9049-074D-8619-4FB7DF8F5822}">
      <dsp:nvSpPr>
        <dsp:cNvPr id="0" name=""/>
        <dsp:cNvSpPr/>
      </dsp:nvSpPr>
      <dsp:spPr>
        <a:xfrm>
          <a:off x="4467893" y="1157732"/>
          <a:ext cx="3499281" cy="404875"/>
        </a:xfrm>
        <a:custGeom>
          <a:avLst/>
          <a:gdLst/>
          <a:ahLst/>
          <a:cxnLst/>
          <a:rect l="0" t="0" r="0" b="0"/>
          <a:pathLst>
            <a:path>
              <a:moveTo>
                <a:pt x="0" y="0"/>
              </a:moveTo>
              <a:lnTo>
                <a:pt x="0" y="202437"/>
              </a:lnTo>
              <a:lnTo>
                <a:pt x="3499281" y="202437"/>
              </a:lnTo>
              <a:lnTo>
                <a:pt x="3499281" y="404875"/>
              </a:lnTo>
            </a:path>
          </a:pathLst>
        </a:custGeom>
        <a:noFill/>
        <a:ln w="1905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D60D9A-466F-8341-8AFD-C51397ECBF0A}">
      <dsp:nvSpPr>
        <dsp:cNvPr id="0" name=""/>
        <dsp:cNvSpPr/>
      </dsp:nvSpPr>
      <dsp:spPr>
        <a:xfrm>
          <a:off x="4467893" y="1157732"/>
          <a:ext cx="1166427" cy="404875"/>
        </a:xfrm>
        <a:custGeom>
          <a:avLst/>
          <a:gdLst/>
          <a:ahLst/>
          <a:cxnLst/>
          <a:rect l="0" t="0" r="0" b="0"/>
          <a:pathLst>
            <a:path>
              <a:moveTo>
                <a:pt x="0" y="0"/>
              </a:moveTo>
              <a:lnTo>
                <a:pt x="0" y="202437"/>
              </a:lnTo>
              <a:lnTo>
                <a:pt x="1166427" y="202437"/>
              </a:lnTo>
              <a:lnTo>
                <a:pt x="1166427" y="404875"/>
              </a:lnTo>
            </a:path>
          </a:pathLst>
        </a:custGeom>
        <a:noFill/>
        <a:ln w="1905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E292A1-1A0B-5C4B-94A6-370BB86B739B}">
      <dsp:nvSpPr>
        <dsp:cNvPr id="0" name=""/>
        <dsp:cNvSpPr/>
      </dsp:nvSpPr>
      <dsp:spPr>
        <a:xfrm>
          <a:off x="3301465" y="1157732"/>
          <a:ext cx="1166427" cy="404875"/>
        </a:xfrm>
        <a:custGeom>
          <a:avLst/>
          <a:gdLst/>
          <a:ahLst/>
          <a:cxnLst/>
          <a:rect l="0" t="0" r="0" b="0"/>
          <a:pathLst>
            <a:path>
              <a:moveTo>
                <a:pt x="1166427" y="0"/>
              </a:moveTo>
              <a:lnTo>
                <a:pt x="1166427" y="202437"/>
              </a:lnTo>
              <a:lnTo>
                <a:pt x="0" y="202437"/>
              </a:lnTo>
              <a:lnTo>
                <a:pt x="0" y="404875"/>
              </a:lnTo>
            </a:path>
          </a:pathLst>
        </a:custGeom>
        <a:noFill/>
        <a:ln w="1905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0562F1-76F1-5D46-9C4C-E614504F937F}">
      <dsp:nvSpPr>
        <dsp:cNvPr id="0" name=""/>
        <dsp:cNvSpPr/>
      </dsp:nvSpPr>
      <dsp:spPr>
        <a:xfrm>
          <a:off x="968611" y="1157732"/>
          <a:ext cx="3499281" cy="404875"/>
        </a:xfrm>
        <a:custGeom>
          <a:avLst/>
          <a:gdLst/>
          <a:ahLst/>
          <a:cxnLst/>
          <a:rect l="0" t="0" r="0" b="0"/>
          <a:pathLst>
            <a:path>
              <a:moveTo>
                <a:pt x="3499281" y="0"/>
              </a:moveTo>
              <a:lnTo>
                <a:pt x="3499281" y="202437"/>
              </a:lnTo>
              <a:lnTo>
                <a:pt x="0" y="202437"/>
              </a:lnTo>
              <a:lnTo>
                <a:pt x="0" y="404875"/>
              </a:lnTo>
            </a:path>
          </a:pathLst>
        </a:custGeom>
        <a:noFill/>
        <a:ln w="1905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973358-5E72-F644-8A08-CAAF345A70A1}">
      <dsp:nvSpPr>
        <dsp:cNvPr id="0" name=""/>
        <dsp:cNvSpPr/>
      </dsp:nvSpPr>
      <dsp:spPr>
        <a:xfrm>
          <a:off x="3503903" y="193743"/>
          <a:ext cx="1927978" cy="963989"/>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latin typeface="Times New Roman" panose="02020603050405020304" pitchFamily="18" charset="0"/>
              <a:cs typeface="Times New Roman" panose="02020603050405020304" pitchFamily="18" charset="0"/>
            </a:rPr>
            <a:t>Makine Öğrenme Yöntemleri</a:t>
          </a:r>
        </a:p>
      </dsp:txBody>
      <dsp:txXfrm>
        <a:off x="3503903" y="193743"/>
        <a:ext cx="1927978" cy="963989"/>
      </dsp:txXfrm>
    </dsp:sp>
    <dsp:sp modelId="{ACE73563-B0EB-4A41-AA7C-75EFFA4335CC}">
      <dsp:nvSpPr>
        <dsp:cNvPr id="0" name=""/>
        <dsp:cNvSpPr/>
      </dsp:nvSpPr>
      <dsp:spPr>
        <a:xfrm>
          <a:off x="4622" y="1562608"/>
          <a:ext cx="1927978" cy="963989"/>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latin typeface="Times New Roman" panose="02020603050405020304" pitchFamily="18" charset="0"/>
              <a:cs typeface="Times New Roman" panose="02020603050405020304" pitchFamily="18" charset="0"/>
            </a:rPr>
            <a:t>Denetimli Öğrenme</a:t>
          </a:r>
        </a:p>
      </dsp:txBody>
      <dsp:txXfrm>
        <a:off x="4622" y="1562608"/>
        <a:ext cx="1927978" cy="963989"/>
      </dsp:txXfrm>
    </dsp:sp>
    <dsp:sp modelId="{F79A01CE-0EDD-A349-ADD6-E34F40401FCB}">
      <dsp:nvSpPr>
        <dsp:cNvPr id="0" name=""/>
        <dsp:cNvSpPr/>
      </dsp:nvSpPr>
      <dsp:spPr>
        <a:xfrm>
          <a:off x="2337476" y="1562608"/>
          <a:ext cx="1927978" cy="963989"/>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latin typeface="Times New Roman" panose="02020603050405020304" pitchFamily="18" charset="0"/>
              <a:cs typeface="Times New Roman" panose="02020603050405020304" pitchFamily="18" charset="0"/>
            </a:rPr>
            <a:t>Denetimsiz Öğrenme</a:t>
          </a:r>
        </a:p>
      </dsp:txBody>
      <dsp:txXfrm>
        <a:off x="2337476" y="1562608"/>
        <a:ext cx="1927978" cy="963989"/>
      </dsp:txXfrm>
    </dsp:sp>
    <dsp:sp modelId="{CA24CC55-300C-8C4F-9579-049B340F99CF}">
      <dsp:nvSpPr>
        <dsp:cNvPr id="0" name=""/>
        <dsp:cNvSpPr/>
      </dsp:nvSpPr>
      <dsp:spPr>
        <a:xfrm>
          <a:off x="4670330" y="1562608"/>
          <a:ext cx="1927978" cy="963989"/>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latin typeface="Times New Roman" panose="02020603050405020304" pitchFamily="18" charset="0"/>
              <a:cs typeface="Times New Roman" panose="02020603050405020304" pitchFamily="18" charset="0"/>
            </a:rPr>
            <a:t>Yarı Denetimli Öğrenme</a:t>
          </a:r>
        </a:p>
      </dsp:txBody>
      <dsp:txXfrm>
        <a:off x="4670330" y="1562608"/>
        <a:ext cx="1927978" cy="963989"/>
      </dsp:txXfrm>
    </dsp:sp>
    <dsp:sp modelId="{415C3147-2AFC-2646-B432-19E95495347B}">
      <dsp:nvSpPr>
        <dsp:cNvPr id="0" name=""/>
        <dsp:cNvSpPr/>
      </dsp:nvSpPr>
      <dsp:spPr>
        <a:xfrm>
          <a:off x="7003185" y="1562608"/>
          <a:ext cx="1927978" cy="963989"/>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latin typeface="Times New Roman" panose="02020603050405020304" pitchFamily="18" charset="0"/>
              <a:cs typeface="Times New Roman" panose="02020603050405020304" pitchFamily="18" charset="0"/>
            </a:rPr>
            <a:t>Takviyeli Öğrenme</a:t>
          </a:r>
        </a:p>
      </dsp:txBody>
      <dsp:txXfrm>
        <a:off x="7003185" y="1562608"/>
        <a:ext cx="1927978" cy="96398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4D6A0A-FA5A-0446-B893-0668C0AE4F31}" type="datetimeFigureOut">
              <a:rPr lang="tr-TR" smtClean="0"/>
              <a:t>25.02.2026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82CCD3-AC7D-2E48-BFF0-866C7B629D5F}" type="slidenum">
              <a:rPr lang="tr-TR" smtClean="0"/>
              <a:t>‹#›</a:t>
            </a:fld>
            <a:endParaRPr lang="tr-TR"/>
          </a:p>
        </p:txBody>
      </p:sp>
    </p:spTree>
    <p:extLst>
      <p:ext uri="{BB962C8B-B14F-4D97-AF65-F5344CB8AC3E}">
        <p14:creationId xmlns:p14="http://schemas.microsoft.com/office/powerpoint/2010/main" val="343588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F82CCD3-AC7D-2E48-BFF0-866C7B629D5F}" type="slidenum">
              <a:rPr lang="tr-TR" smtClean="0"/>
              <a:t>24</a:t>
            </a:fld>
            <a:endParaRPr lang="tr-TR"/>
          </a:p>
        </p:txBody>
      </p:sp>
    </p:spTree>
    <p:extLst>
      <p:ext uri="{BB962C8B-B14F-4D97-AF65-F5344CB8AC3E}">
        <p14:creationId xmlns:p14="http://schemas.microsoft.com/office/powerpoint/2010/main" val="2214054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E85357C5-82C9-4719-8A4E-AD168EA89E08}" type="slidenum">
              <a:rPr lang="tr-TR" smtClean="0"/>
              <a:t>25</a:t>
            </a:fld>
            <a:endParaRPr lang="tr-TR"/>
          </a:p>
        </p:txBody>
      </p:sp>
    </p:spTree>
    <p:extLst>
      <p:ext uri="{BB962C8B-B14F-4D97-AF65-F5344CB8AC3E}">
        <p14:creationId xmlns:p14="http://schemas.microsoft.com/office/powerpoint/2010/main" val="24424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F82CCD3-AC7D-2E48-BFF0-866C7B629D5F}" type="slidenum">
              <a:rPr lang="tr-TR" smtClean="0"/>
              <a:t>27</a:t>
            </a:fld>
            <a:endParaRPr lang="tr-TR"/>
          </a:p>
        </p:txBody>
      </p:sp>
    </p:spTree>
    <p:extLst>
      <p:ext uri="{BB962C8B-B14F-4D97-AF65-F5344CB8AC3E}">
        <p14:creationId xmlns:p14="http://schemas.microsoft.com/office/powerpoint/2010/main" val="1483281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2462E33-8F33-87BB-0CBD-5352906759A3}"/>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27F08C9B-1CA8-40C9-04F0-0C03C9D97F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8A43D37C-8C02-6A9B-EDA2-21BA0D7DF06E}"/>
              </a:ext>
            </a:extLst>
          </p:cNvPr>
          <p:cNvSpPr>
            <a:spLocks noGrp="1"/>
          </p:cNvSpPr>
          <p:nvPr>
            <p:ph type="dt" sz="half" idx="10"/>
          </p:nvPr>
        </p:nvSpPr>
        <p:spPr/>
        <p:txBody>
          <a:bodyPr/>
          <a:lstStyle/>
          <a:p>
            <a:fld id="{18DBD404-4D59-B440-A149-02165F9A0557}" type="datetimeFigureOut">
              <a:rPr lang="tr-TR" smtClean="0"/>
              <a:t>25.02.2026</a:t>
            </a:fld>
            <a:endParaRPr lang="tr-TR"/>
          </a:p>
        </p:txBody>
      </p:sp>
      <p:sp>
        <p:nvSpPr>
          <p:cNvPr id="5" name="Alt Bilgi Yer Tutucusu 4">
            <a:extLst>
              <a:ext uri="{FF2B5EF4-FFF2-40B4-BE49-F238E27FC236}">
                <a16:creationId xmlns:a16="http://schemas.microsoft.com/office/drawing/2014/main" id="{5E833A8B-0B06-3115-42C2-FF5C3155C443}"/>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AAD645C-1202-DB67-8EB6-0FD45B434453}"/>
              </a:ext>
            </a:extLst>
          </p:cNvPr>
          <p:cNvSpPr>
            <a:spLocks noGrp="1"/>
          </p:cNvSpPr>
          <p:nvPr>
            <p:ph type="sldNum" sz="quarter" idx="12"/>
          </p:nvPr>
        </p:nvSpPr>
        <p:spPr/>
        <p:txBody>
          <a:bodyPr/>
          <a:lstStyle/>
          <a:p>
            <a:fld id="{71FDF5C5-C5F9-554C-A4CB-FC9ADD2FD3D3}" type="slidenum">
              <a:rPr lang="tr-TR" smtClean="0"/>
              <a:t>‹#›</a:t>
            </a:fld>
            <a:endParaRPr lang="tr-TR"/>
          </a:p>
        </p:txBody>
      </p:sp>
    </p:spTree>
    <p:extLst>
      <p:ext uri="{BB962C8B-B14F-4D97-AF65-F5344CB8AC3E}">
        <p14:creationId xmlns:p14="http://schemas.microsoft.com/office/powerpoint/2010/main" val="2669900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DDCE66E-3C08-C47C-4A89-5C7CE3B01D14}"/>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523D7127-CBE9-A276-F3BE-9E2D3808790D}"/>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470314E-F38C-34B9-69FC-05F04BB10243}"/>
              </a:ext>
            </a:extLst>
          </p:cNvPr>
          <p:cNvSpPr>
            <a:spLocks noGrp="1"/>
          </p:cNvSpPr>
          <p:nvPr>
            <p:ph type="dt" sz="half" idx="10"/>
          </p:nvPr>
        </p:nvSpPr>
        <p:spPr/>
        <p:txBody>
          <a:bodyPr/>
          <a:lstStyle/>
          <a:p>
            <a:fld id="{18DBD404-4D59-B440-A149-02165F9A0557}" type="datetimeFigureOut">
              <a:rPr lang="tr-TR" smtClean="0"/>
              <a:t>25.02.2026</a:t>
            </a:fld>
            <a:endParaRPr lang="tr-TR"/>
          </a:p>
        </p:txBody>
      </p:sp>
      <p:sp>
        <p:nvSpPr>
          <p:cNvPr id="5" name="Alt Bilgi Yer Tutucusu 4">
            <a:extLst>
              <a:ext uri="{FF2B5EF4-FFF2-40B4-BE49-F238E27FC236}">
                <a16:creationId xmlns:a16="http://schemas.microsoft.com/office/drawing/2014/main" id="{23A976A8-0E46-68BF-F024-4FBE54986C7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4183F98-441D-CDCD-7972-A023C398ABD4}"/>
              </a:ext>
            </a:extLst>
          </p:cNvPr>
          <p:cNvSpPr>
            <a:spLocks noGrp="1"/>
          </p:cNvSpPr>
          <p:nvPr>
            <p:ph type="sldNum" sz="quarter" idx="12"/>
          </p:nvPr>
        </p:nvSpPr>
        <p:spPr/>
        <p:txBody>
          <a:bodyPr/>
          <a:lstStyle/>
          <a:p>
            <a:fld id="{71FDF5C5-C5F9-554C-A4CB-FC9ADD2FD3D3}" type="slidenum">
              <a:rPr lang="tr-TR" smtClean="0"/>
              <a:t>‹#›</a:t>
            </a:fld>
            <a:endParaRPr lang="tr-TR"/>
          </a:p>
        </p:txBody>
      </p:sp>
    </p:spTree>
    <p:extLst>
      <p:ext uri="{BB962C8B-B14F-4D97-AF65-F5344CB8AC3E}">
        <p14:creationId xmlns:p14="http://schemas.microsoft.com/office/powerpoint/2010/main" val="232856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ED968BB-3600-4166-0043-0654DB747F0F}"/>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357EA6E3-CBEA-C537-8A43-646E284ADF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147D9EAF-B0FF-289C-80D0-637183ED9ADA}"/>
              </a:ext>
            </a:extLst>
          </p:cNvPr>
          <p:cNvSpPr>
            <a:spLocks noGrp="1"/>
          </p:cNvSpPr>
          <p:nvPr>
            <p:ph type="dt" sz="half" idx="10"/>
          </p:nvPr>
        </p:nvSpPr>
        <p:spPr/>
        <p:txBody>
          <a:bodyPr/>
          <a:lstStyle/>
          <a:p>
            <a:fld id="{18DBD404-4D59-B440-A149-02165F9A0557}" type="datetimeFigureOut">
              <a:rPr lang="tr-TR" smtClean="0"/>
              <a:t>25.02.2026</a:t>
            </a:fld>
            <a:endParaRPr lang="tr-TR"/>
          </a:p>
        </p:txBody>
      </p:sp>
      <p:sp>
        <p:nvSpPr>
          <p:cNvPr id="5" name="Alt Bilgi Yer Tutucusu 4">
            <a:extLst>
              <a:ext uri="{FF2B5EF4-FFF2-40B4-BE49-F238E27FC236}">
                <a16:creationId xmlns:a16="http://schemas.microsoft.com/office/drawing/2014/main" id="{752393D7-C9DE-0165-AF10-20782FB378B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12FC8F1-0B3D-8854-11E3-B2ABB109831F}"/>
              </a:ext>
            </a:extLst>
          </p:cNvPr>
          <p:cNvSpPr>
            <a:spLocks noGrp="1"/>
          </p:cNvSpPr>
          <p:nvPr>
            <p:ph type="sldNum" sz="quarter" idx="12"/>
          </p:nvPr>
        </p:nvSpPr>
        <p:spPr/>
        <p:txBody>
          <a:bodyPr/>
          <a:lstStyle/>
          <a:p>
            <a:fld id="{71FDF5C5-C5F9-554C-A4CB-FC9ADD2FD3D3}" type="slidenum">
              <a:rPr lang="tr-TR" smtClean="0"/>
              <a:t>‹#›</a:t>
            </a:fld>
            <a:endParaRPr lang="tr-TR"/>
          </a:p>
        </p:txBody>
      </p:sp>
    </p:spTree>
    <p:extLst>
      <p:ext uri="{BB962C8B-B14F-4D97-AF65-F5344CB8AC3E}">
        <p14:creationId xmlns:p14="http://schemas.microsoft.com/office/powerpoint/2010/main" val="3224394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A36986D-2FEA-1DDC-D112-EA774128DC66}"/>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049E212F-007E-7073-8FB3-1A449897CEFF}"/>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9C195E42-3100-CB99-4C72-3B22B94FB7D3}"/>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911195E5-1B50-6EC5-6EDF-FEC6E4AD1312}"/>
              </a:ext>
            </a:extLst>
          </p:cNvPr>
          <p:cNvSpPr>
            <a:spLocks noGrp="1"/>
          </p:cNvSpPr>
          <p:nvPr>
            <p:ph type="dt" sz="half" idx="10"/>
          </p:nvPr>
        </p:nvSpPr>
        <p:spPr/>
        <p:txBody>
          <a:bodyPr/>
          <a:lstStyle/>
          <a:p>
            <a:fld id="{18DBD404-4D59-B440-A149-02165F9A0557}" type="datetimeFigureOut">
              <a:rPr lang="tr-TR" smtClean="0"/>
              <a:t>25.02.2026</a:t>
            </a:fld>
            <a:endParaRPr lang="tr-TR"/>
          </a:p>
        </p:txBody>
      </p:sp>
      <p:sp>
        <p:nvSpPr>
          <p:cNvPr id="6" name="Alt Bilgi Yer Tutucusu 5">
            <a:extLst>
              <a:ext uri="{FF2B5EF4-FFF2-40B4-BE49-F238E27FC236}">
                <a16:creationId xmlns:a16="http://schemas.microsoft.com/office/drawing/2014/main" id="{07DD446E-71D1-6784-CE71-44ED47593EC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673E2C7C-09F7-4D43-C28C-9A7063F06A60}"/>
              </a:ext>
            </a:extLst>
          </p:cNvPr>
          <p:cNvSpPr>
            <a:spLocks noGrp="1"/>
          </p:cNvSpPr>
          <p:nvPr>
            <p:ph type="sldNum" sz="quarter" idx="12"/>
          </p:nvPr>
        </p:nvSpPr>
        <p:spPr/>
        <p:txBody>
          <a:bodyPr/>
          <a:lstStyle/>
          <a:p>
            <a:fld id="{71FDF5C5-C5F9-554C-A4CB-FC9ADD2FD3D3}" type="slidenum">
              <a:rPr lang="tr-TR" smtClean="0"/>
              <a:t>‹#›</a:t>
            </a:fld>
            <a:endParaRPr lang="tr-TR"/>
          </a:p>
        </p:txBody>
      </p:sp>
    </p:spTree>
    <p:extLst>
      <p:ext uri="{BB962C8B-B14F-4D97-AF65-F5344CB8AC3E}">
        <p14:creationId xmlns:p14="http://schemas.microsoft.com/office/powerpoint/2010/main" val="1589215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532805B-D826-51CE-D36D-0B29D57F5182}"/>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CA75A75-4FC8-2565-D69E-1B8F109E09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32EB741D-F461-E100-A596-412F16337193}"/>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1695844E-6270-8624-CF7E-D72D367880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752158CD-4E52-C92D-8968-CD634CED7436}"/>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73D564DD-6A70-6E6F-82CF-7B9E7BB3B1BE}"/>
              </a:ext>
            </a:extLst>
          </p:cNvPr>
          <p:cNvSpPr>
            <a:spLocks noGrp="1"/>
          </p:cNvSpPr>
          <p:nvPr>
            <p:ph type="dt" sz="half" idx="10"/>
          </p:nvPr>
        </p:nvSpPr>
        <p:spPr/>
        <p:txBody>
          <a:bodyPr/>
          <a:lstStyle/>
          <a:p>
            <a:fld id="{18DBD404-4D59-B440-A149-02165F9A0557}" type="datetimeFigureOut">
              <a:rPr lang="tr-TR" smtClean="0"/>
              <a:t>25.02.2026</a:t>
            </a:fld>
            <a:endParaRPr lang="tr-TR"/>
          </a:p>
        </p:txBody>
      </p:sp>
      <p:sp>
        <p:nvSpPr>
          <p:cNvPr id="8" name="Alt Bilgi Yer Tutucusu 7">
            <a:extLst>
              <a:ext uri="{FF2B5EF4-FFF2-40B4-BE49-F238E27FC236}">
                <a16:creationId xmlns:a16="http://schemas.microsoft.com/office/drawing/2014/main" id="{EBBCB9D5-8247-5557-4E84-9758C6A8AA63}"/>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80C62C73-6A82-64B6-4D15-D58E36EAA1FA}"/>
              </a:ext>
            </a:extLst>
          </p:cNvPr>
          <p:cNvSpPr>
            <a:spLocks noGrp="1"/>
          </p:cNvSpPr>
          <p:nvPr>
            <p:ph type="sldNum" sz="quarter" idx="12"/>
          </p:nvPr>
        </p:nvSpPr>
        <p:spPr/>
        <p:txBody>
          <a:bodyPr/>
          <a:lstStyle/>
          <a:p>
            <a:fld id="{71FDF5C5-C5F9-554C-A4CB-FC9ADD2FD3D3}" type="slidenum">
              <a:rPr lang="tr-TR" smtClean="0"/>
              <a:t>‹#›</a:t>
            </a:fld>
            <a:endParaRPr lang="tr-TR"/>
          </a:p>
        </p:txBody>
      </p:sp>
    </p:spTree>
    <p:extLst>
      <p:ext uri="{BB962C8B-B14F-4D97-AF65-F5344CB8AC3E}">
        <p14:creationId xmlns:p14="http://schemas.microsoft.com/office/powerpoint/2010/main" val="3198992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D17BA93-0628-BF33-699C-95673D020079}"/>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FD92EC86-D22B-E530-88F0-4EAF7BD826EE}"/>
              </a:ext>
            </a:extLst>
          </p:cNvPr>
          <p:cNvSpPr>
            <a:spLocks noGrp="1"/>
          </p:cNvSpPr>
          <p:nvPr>
            <p:ph type="dt" sz="half" idx="10"/>
          </p:nvPr>
        </p:nvSpPr>
        <p:spPr/>
        <p:txBody>
          <a:bodyPr/>
          <a:lstStyle/>
          <a:p>
            <a:fld id="{18DBD404-4D59-B440-A149-02165F9A0557}" type="datetimeFigureOut">
              <a:rPr lang="tr-TR" smtClean="0"/>
              <a:t>25.02.2026</a:t>
            </a:fld>
            <a:endParaRPr lang="tr-TR"/>
          </a:p>
        </p:txBody>
      </p:sp>
      <p:sp>
        <p:nvSpPr>
          <p:cNvPr id="4" name="Alt Bilgi Yer Tutucusu 3">
            <a:extLst>
              <a:ext uri="{FF2B5EF4-FFF2-40B4-BE49-F238E27FC236}">
                <a16:creationId xmlns:a16="http://schemas.microsoft.com/office/drawing/2014/main" id="{B00CB49D-5F52-B470-1896-B428FE111D52}"/>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87403C8F-EA04-6F91-3F79-05C6148C84EF}"/>
              </a:ext>
            </a:extLst>
          </p:cNvPr>
          <p:cNvSpPr>
            <a:spLocks noGrp="1"/>
          </p:cNvSpPr>
          <p:nvPr>
            <p:ph type="sldNum" sz="quarter" idx="12"/>
          </p:nvPr>
        </p:nvSpPr>
        <p:spPr/>
        <p:txBody>
          <a:bodyPr/>
          <a:lstStyle/>
          <a:p>
            <a:fld id="{71FDF5C5-C5F9-554C-A4CB-FC9ADD2FD3D3}" type="slidenum">
              <a:rPr lang="tr-TR" smtClean="0"/>
              <a:t>‹#›</a:t>
            </a:fld>
            <a:endParaRPr lang="tr-TR"/>
          </a:p>
        </p:txBody>
      </p:sp>
    </p:spTree>
    <p:extLst>
      <p:ext uri="{BB962C8B-B14F-4D97-AF65-F5344CB8AC3E}">
        <p14:creationId xmlns:p14="http://schemas.microsoft.com/office/powerpoint/2010/main" val="4086997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68BCF609-130D-859F-21F7-0A05B6BAFBD0}"/>
              </a:ext>
            </a:extLst>
          </p:cNvPr>
          <p:cNvSpPr>
            <a:spLocks noGrp="1"/>
          </p:cNvSpPr>
          <p:nvPr>
            <p:ph type="dt" sz="half" idx="10"/>
          </p:nvPr>
        </p:nvSpPr>
        <p:spPr/>
        <p:txBody>
          <a:bodyPr/>
          <a:lstStyle/>
          <a:p>
            <a:fld id="{18DBD404-4D59-B440-A149-02165F9A0557}" type="datetimeFigureOut">
              <a:rPr lang="tr-TR" smtClean="0"/>
              <a:t>25.02.2026</a:t>
            </a:fld>
            <a:endParaRPr lang="tr-TR"/>
          </a:p>
        </p:txBody>
      </p:sp>
      <p:sp>
        <p:nvSpPr>
          <p:cNvPr id="3" name="Alt Bilgi Yer Tutucusu 2">
            <a:extLst>
              <a:ext uri="{FF2B5EF4-FFF2-40B4-BE49-F238E27FC236}">
                <a16:creationId xmlns:a16="http://schemas.microsoft.com/office/drawing/2014/main" id="{FD680A37-7968-0840-0123-F5F403A3FF1F}"/>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AC5A852D-F5B2-0706-D790-227C8B87A701}"/>
              </a:ext>
            </a:extLst>
          </p:cNvPr>
          <p:cNvSpPr>
            <a:spLocks noGrp="1"/>
          </p:cNvSpPr>
          <p:nvPr>
            <p:ph type="sldNum" sz="quarter" idx="12"/>
          </p:nvPr>
        </p:nvSpPr>
        <p:spPr/>
        <p:txBody>
          <a:bodyPr/>
          <a:lstStyle/>
          <a:p>
            <a:fld id="{71FDF5C5-C5F9-554C-A4CB-FC9ADD2FD3D3}" type="slidenum">
              <a:rPr lang="tr-TR" smtClean="0"/>
              <a:t>‹#›</a:t>
            </a:fld>
            <a:endParaRPr lang="tr-TR"/>
          </a:p>
        </p:txBody>
      </p:sp>
    </p:spTree>
    <p:extLst>
      <p:ext uri="{BB962C8B-B14F-4D97-AF65-F5344CB8AC3E}">
        <p14:creationId xmlns:p14="http://schemas.microsoft.com/office/powerpoint/2010/main" val="83035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F4A46D-35D3-EB4C-418C-2AAE3C8E05B0}"/>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149BD276-28A6-6A80-E6BC-328919E4B2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F4EE7DE4-54DD-0F6A-D3C3-18F7766F5B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333BAF76-9048-2E16-96E6-34F142AC9ED9}"/>
              </a:ext>
            </a:extLst>
          </p:cNvPr>
          <p:cNvSpPr>
            <a:spLocks noGrp="1"/>
          </p:cNvSpPr>
          <p:nvPr>
            <p:ph type="dt" sz="half" idx="10"/>
          </p:nvPr>
        </p:nvSpPr>
        <p:spPr/>
        <p:txBody>
          <a:bodyPr/>
          <a:lstStyle/>
          <a:p>
            <a:fld id="{18DBD404-4D59-B440-A149-02165F9A0557}" type="datetimeFigureOut">
              <a:rPr lang="tr-TR" smtClean="0"/>
              <a:t>25.02.2026</a:t>
            </a:fld>
            <a:endParaRPr lang="tr-TR"/>
          </a:p>
        </p:txBody>
      </p:sp>
      <p:sp>
        <p:nvSpPr>
          <p:cNvPr id="6" name="Alt Bilgi Yer Tutucusu 5">
            <a:extLst>
              <a:ext uri="{FF2B5EF4-FFF2-40B4-BE49-F238E27FC236}">
                <a16:creationId xmlns:a16="http://schemas.microsoft.com/office/drawing/2014/main" id="{D7104922-6F00-F57D-F563-5980450A226E}"/>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E93CABFB-9B34-244E-EEC3-2BE69FD317A5}"/>
              </a:ext>
            </a:extLst>
          </p:cNvPr>
          <p:cNvSpPr>
            <a:spLocks noGrp="1"/>
          </p:cNvSpPr>
          <p:nvPr>
            <p:ph type="sldNum" sz="quarter" idx="12"/>
          </p:nvPr>
        </p:nvSpPr>
        <p:spPr/>
        <p:txBody>
          <a:bodyPr/>
          <a:lstStyle/>
          <a:p>
            <a:fld id="{71FDF5C5-C5F9-554C-A4CB-FC9ADD2FD3D3}" type="slidenum">
              <a:rPr lang="tr-TR" smtClean="0"/>
              <a:t>‹#›</a:t>
            </a:fld>
            <a:endParaRPr lang="tr-TR"/>
          </a:p>
        </p:txBody>
      </p:sp>
    </p:spTree>
    <p:extLst>
      <p:ext uri="{BB962C8B-B14F-4D97-AF65-F5344CB8AC3E}">
        <p14:creationId xmlns:p14="http://schemas.microsoft.com/office/powerpoint/2010/main" val="1613155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BA577C1-2AB1-2D78-6C22-7912C4FA843A}"/>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E3D51359-852F-5828-1529-49B29B467B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940751AE-A032-78D5-BE76-057D16A4D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B90FB293-3C72-B3F2-2CB6-531CC575054D}"/>
              </a:ext>
            </a:extLst>
          </p:cNvPr>
          <p:cNvSpPr>
            <a:spLocks noGrp="1"/>
          </p:cNvSpPr>
          <p:nvPr>
            <p:ph type="dt" sz="half" idx="10"/>
          </p:nvPr>
        </p:nvSpPr>
        <p:spPr/>
        <p:txBody>
          <a:bodyPr/>
          <a:lstStyle/>
          <a:p>
            <a:fld id="{18DBD404-4D59-B440-A149-02165F9A0557}" type="datetimeFigureOut">
              <a:rPr lang="tr-TR" smtClean="0"/>
              <a:t>25.02.2026</a:t>
            </a:fld>
            <a:endParaRPr lang="tr-TR"/>
          </a:p>
        </p:txBody>
      </p:sp>
      <p:sp>
        <p:nvSpPr>
          <p:cNvPr id="6" name="Alt Bilgi Yer Tutucusu 5">
            <a:extLst>
              <a:ext uri="{FF2B5EF4-FFF2-40B4-BE49-F238E27FC236}">
                <a16:creationId xmlns:a16="http://schemas.microsoft.com/office/drawing/2014/main" id="{19F38C5C-64D1-390F-5804-0947DFC7C6A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6D1674CC-C067-A3C9-7F7F-B52ADC5BF8E8}"/>
              </a:ext>
            </a:extLst>
          </p:cNvPr>
          <p:cNvSpPr>
            <a:spLocks noGrp="1"/>
          </p:cNvSpPr>
          <p:nvPr>
            <p:ph type="sldNum" sz="quarter" idx="12"/>
          </p:nvPr>
        </p:nvSpPr>
        <p:spPr/>
        <p:txBody>
          <a:bodyPr/>
          <a:lstStyle/>
          <a:p>
            <a:fld id="{71FDF5C5-C5F9-554C-A4CB-FC9ADD2FD3D3}" type="slidenum">
              <a:rPr lang="tr-TR" smtClean="0"/>
              <a:t>‹#›</a:t>
            </a:fld>
            <a:endParaRPr lang="tr-TR"/>
          </a:p>
        </p:txBody>
      </p:sp>
    </p:spTree>
    <p:extLst>
      <p:ext uri="{BB962C8B-B14F-4D97-AF65-F5344CB8AC3E}">
        <p14:creationId xmlns:p14="http://schemas.microsoft.com/office/powerpoint/2010/main" val="1537166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9E1B17F-AC80-801C-1B53-FF927B300943}"/>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B9281417-6C38-6304-F7A4-759EF80ED515}"/>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812E006-BE45-57B7-3398-F2669D022975}"/>
              </a:ext>
            </a:extLst>
          </p:cNvPr>
          <p:cNvSpPr>
            <a:spLocks noGrp="1"/>
          </p:cNvSpPr>
          <p:nvPr>
            <p:ph type="dt" sz="half" idx="10"/>
          </p:nvPr>
        </p:nvSpPr>
        <p:spPr/>
        <p:txBody>
          <a:bodyPr/>
          <a:lstStyle/>
          <a:p>
            <a:fld id="{18DBD404-4D59-B440-A149-02165F9A0557}" type="datetimeFigureOut">
              <a:rPr lang="tr-TR" smtClean="0"/>
              <a:t>25.02.2026</a:t>
            </a:fld>
            <a:endParaRPr lang="tr-TR"/>
          </a:p>
        </p:txBody>
      </p:sp>
      <p:sp>
        <p:nvSpPr>
          <p:cNvPr id="5" name="Alt Bilgi Yer Tutucusu 4">
            <a:extLst>
              <a:ext uri="{FF2B5EF4-FFF2-40B4-BE49-F238E27FC236}">
                <a16:creationId xmlns:a16="http://schemas.microsoft.com/office/drawing/2014/main" id="{9C0B3AA2-4273-AA91-5430-CA6C675F4729}"/>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E4626D9-3462-174C-2047-4906D94C2B29}"/>
              </a:ext>
            </a:extLst>
          </p:cNvPr>
          <p:cNvSpPr>
            <a:spLocks noGrp="1"/>
          </p:cNvSpPr>
          <p:nvPr>
            <p:ph type="sldNum" sz="quarter" idx="12"/>
          </p:nvPr>
        </p:nvSpPr>
        <p:spPr/>
        <p:txBody>
          <a:bodyPr/>
          <a:lstStyle/>
          <a:p>
            <a:fld id="{71FDF5C5-C5F9-554C-A4CB-FC9ADD2FD3D3}" type="slidenum">
              <a:rPr lang="tr-TR" smtClean="0"/>
              <a:t>‹#›</a:t>
            </a:fld>
            <a:endParaRPr lang="tr-TR"/>
          </a:p>
        </p:txBody>
      </p:sp>
    </p:spTree>
    <p:extLst>
      <p:ext uri="{BB962C8B-B14F-4D97-AF65-F5344CB8AC3E}">
        <p14:creationId xmlns:p14="http://schemas.microsoft.com/office/powerpoint/2010/main" val="2948887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DE119E54-5214-5926-637C-CD643068073E}"/>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3872369C-9254-A920-7DE4-1EE3611F30C1}"/>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4B0E6471-C617-7D0E-5A76-AE13365235E8}"/>
              </a:ext>
            </a:extLst>
          </p:cNvPr>
          <p:cNvSpPr>
            <a:spLocks noGrp="1"/>
          </p:cNvSpPr>
          <p:nvPr>
            <p:ph type="dt" sz="half" idx="10"/>
          </p:nvPr>
        </p:nvSpPr>
        <p:spPr/>
        <p:txBody>
          <a:bodyPr/>
          <a:lstStyle/>
          <a:p>
            <a:fld id="{18DBD404-4D59-B440-A149-02165F9A0557}" type="datetimeFigureOut">
              <a:rPr lang="tr-TR" smtClean="0"/>
              <a:t>25.02.2026</a:t>
            </a:fld>
            <a:endParaRPr lang="tr-TR"/>
          </a:p>
        </p:txBody>
      </p:sp>
      <p:sp>
        <p:nvSpPr>
          <p:cNvPr id="5" name="Alt Bilgi Yer Tutucusu 4">
            <a:extLst>
              <a:ext uri="{FF2B5EF4-FFF2-40B4-BE49-F238E27FC236}">
                <a16:creationId xmlns:a16="http://schemas.microsoft.com/office/drawing/2014/main" id="{67AE2CA9-2B95-4F09-B263-B4C5628A735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297DB1CF-F917-5CE3-9078-1C5C7CAEE790}"/>
              </a:ext>
            </a:extLst>
          </p:cNvPr>
          <p:cNvSpPr>
            <a:spLocks noGrp="1"/>
          </p:cNvSpPr>
          <p:nvPr>
            <p:ph type="sldNum" sz="quarter" idx="12"/>
          </p:nvPr>
        </p:nvSpPr>
        <p:spPr/>
        <p:txBody>
          <a:bodyPr/>
          <a:lstStyle/>
          <a:p>
            <a:fld id="{71FDF5C5-C5F9-554C-A4CB-FC9ADD2FD3D3}" type="slidenum">
              <a:rPr lang="tr-TR" smtClean="0"/>
              <a:t>‹#›</a:t>
            </a:fld>
            <a:endParaRPr lang="tr-TR"/>
          </a:p>
        </p:txBody>
      </p:sp>
    </p:spTree>
    <p:extLst>
      <p:ext uri="{BB962C8B-B14F-4D97-AF65-F5344CB8AC3E}">
        <p14:creationId xmlns:p14="http://schemas.microsoft.com/office/powerpoint/2010/main" val="2851805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1DE18800-2309-D84F-A296-4171BC07D1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B3DCDCB-E1C7-9E79-CDF1-8D415AF9A6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4FA0F96-16C5-6909-3358-EB1485AD05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DBD404-4D59-B440-A149-02165F9A0557}" type="datetimeFigureOut">
              <a:rPr lang="tr-TR" smtClean="0"/>
              <a:t>25.02.2026</a:t>
            </a:fld>
            <a:endParaRPr lang="tr-TR"/>
          </a:p>
        </p:txBody>
      </p:sp>
      <p:sp>
        <p:nvSpPr>
          <p:cNvPr id="5" name="Alt Bilgi Yer Tutucusu 4">
            <a:extLst>
              <a:ext uri="{FF2B5EF4-FFF2-40B4-BE49-F238E27FC236}">
                <a16:creationId xmlns:a16="http://schemas.microsoft.com/office/drawing/2014/main" id="{DC2EF636-9AA0-7372-B73C-FD0B28CBD2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4B8185A7-32E0-B0D2-9944-46853B1945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FDF5C5-C5F9-554C-A4CB-FC9ADD2FD3D3}" type="slidenum">
              <a:rPr lang="tr-TR" smtClean="0"/>
              <a:t>‹#›</a:t>
            </a:fld>
            <a:endParaRPr lang="tr-TR"/>
          </a:p>
        </p:txBody>
      </p:sp>
    </p:spTree>
    <p:extLst>
      <p:ext uri="{BB962C8B-B14F-4D97-AF65-F5344CB8AC3E}">
        <p14:creationId xmlns:p14="http://schemas.microsoft.com/office/powerpoint/2010/main" val="2227323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www.openml.org/search?type=data&amp;utm_source=chatgpt.com" TargetMode="External"/><Relationship Id="rId3" Type="http://schemas.openxmlformats.org/officeDocument/2006/relationships/hyperlink" Target="https://www.kaggle.com/datasets" TargetMode="External"/><Relationship Id="rId7" Type="http://schemas.openxmlformats.org/officeDocument/2006/relationships/hyperlink" Target="https://www.openml.or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datasetsearch.research.google.com/" TargetMode="External"/><Relationship Id="rId5" Type="http://schemas.openxmlformats.org/officeDocument/2006/relationships/hyperlink" Target="https://www.data.gov/" TargetMode="External"/><Relationship Id="rId4" Type="http://schemas.openxmlformats.org/officeDocument/2006/relationships/hyperlink" Target="https://archive.ics.uci.edu/ml/datasets" TargetMode="External"/><Relationship Id="rId9" Type="http://schemas.openxmlformats.org/officeDocument/2006/relationships/hyperlink" Target="https://my.rapidminer.com/nexus/account/index.html#login?returnUrl=https%3A%2F%2Fmy.rapidminer.com%2Fnexus%2Faccount%2Findex.html%23hom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836AA0A-9512-A641-76D2-DCDF5A5A6D7A}"/>
              </a:ext>
            </a:extLst>
          </p:cNvPr>
          <p:cNvSpPr>
            <a:spLocks noGrp="1"/>
          </p:cNvSpPr>
          <p:nvPr>
            <p:ph type="ctrTitle"/>
          </p:nvPr>
        </p:nvSpPr>
        <p:spPr>
          <a:xfrm>
            <a:off x="1329766" y="1146412"/>
            <a:ext cx="9014348" cy="2402006"/>
          </a:xfrm>
        </p:spPr>
        <p:txBody>
          <a:bodyPr anchor="b">
            <a:normAutofit/>
          </a:bodyPr>
          <a:lstStyle/>
          <a:p>
            <a:pPr algn="l"/>
            <a:r>
              <a:rPr lang="tr-TR" sz="4800"/>
              <a:t>Veri Madenciliği</a:t>
            </a:r>
          </a:p>
        </p:txBody>
      </p:sp>
      <p:sp>
        <p:nvSpPr>
          <p:cNvPr id="46" name="Rectangle 45">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lt Başlık 2">
            <a:extLst>
              <a:ext uri="{FF2B5EF4-FFF2-40B4-BE49-F238E27FC236}">
                <a16:creationId xmlns:a16="http://schemas.microsoft.com/office/drawing/2014/main" id="{EFCBD1F4-45F2-6EE0-B614-29B5935D9299}"/>
              </a:ext>
            </a:extLst>
          </p:cNvPr>
          <p:cNvSpPr>
            <a:spLocks noGrp="1"/>
          </p:cNvSpPr>
          <p:nvPr>
            <p:ph type="subTitle" idx="1"/>
          </p:nvPr>
        </p:nvSpPr>
        <p:spPr>
          <a:xfrm>
            <a:off x="1329765" y="4892722"/>
            <a:ext cx="6387155" cy="1078173"/>
          </a:xfrm>
        </p:spPr>
        <p:txBody>
          <a:bodyPr anchor="ctr">
            <a:normAutofit/>
          </a:bodyPr>
          <a:lstStyle/>
          <a:p>
            <a:pPr algn="l"/>
            <a:r>
              <a:rPr lang="tr-TR">
                <a:solidFill>
                  <a:srgbClr val="FFFFFF"/>
                </a:solidFill>
              </a:rPr>
              <a:t>Dr. Deniz Demircioğlu Diren</a:t>
            </a:r>
          </a:p>
        </p:txBody>
      </p:sp>
    </p:spTree>
    <p:extLst>
      <p:ext uri="{BB962C8B-B14F-4D97-AF65-F5344CB8AC3E}">
        <p14:creationId xmlns:p14="http://schemas.microsoft.com/office/powerpoint/2010/main" val="1269679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CA130F9-BD53-B516-F12A-B8C2A946264E}"/>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Veri Madenciliği Süreci</a:t>
            </a:r>
          </a:p>
        </p:txBody>
      </p:sp>
      <p:sp>
        <p:nvSpPr>
          <p:cNvPr id="3" name="İçerik Yer Tutucusu 2">
            <a:extLst>
              <a:ext uri="{FF2B5EF4-FFF2-40B4-BE49-F238E27FC236}">
                <a16:creationId xmlns:a16="http://schemas.microsoft.com/office/drawing/2014/main" id="{3E889B18-A84F-B729-1195-5A599C680114}"/>
              </a:ext>
            </a:extLst>
          </p:cNvPr>
          <p:cNvSpPr>
            <a:spLocks noGrp="1"/>
          </p:cNvSpPr>
          <p:nvPr>
            <p:ph idx="1"/>
          </p:nvPr>
        </p:nvSpPr>
        <p:spPr>
          <a:xfrm>
            <a:off x="1097280" y="1845733"/>
            <a:ext cx="10058400" cy="4725663"/>
          </a:xfrm>
        </p:spPr>
        <p:txBody>
          <a:bodyPr>
            <a:normAutofit fontScale="92500" lnSpcReduction="10000"/>
          </a:bodyPr>
          <a:lstStyle/>
          <a:p>
            <a:pPr>
              <a:lnSpc>
                <a:spcPct val="150000"/>
              </a:lnSpc>
            </a:pPr>
            <a:r>
              <a:rPr lang="tr-TR" dirty="0">
                <a:latin typeface="Times New Roman" panose="02020603050405020304" pitchFamily="18" charset="0"/>
                <a:cs typeface="Times New Roman" panose="02020603050405020304" pitchFamily="18" charset="0"/>
              </a:rPr>
              <a:t>Bu süreç bazı adımları içermektedir. Bunlar;</a:t>
            </a:r>
          </a:p>
          <a:p>
            <a:pPr>
              <a:lnSpc>
                <a:spcPct val="150000"/>
              </a:lnSpc>
            </a:pPr>
            <a:r>
              <a:rPr lang="tr-TR" dirty="0">
                <a:latin typeface="Times New Roman" panose="02020603050405020304" pitchFamily="18" charset="0"/>
                <a:cs typeface="Times New Roman" panose="02020603050405020304" pitchFamily="18" charset="0"/>
              </a:rPr>
              <a:t>1.Problemi tanıma</a:t>
            </a:r>
          </a:p>
          <a:p>
            <a:pPr>
              <a:lnSpc>
                <a:spcPct val="150000"/>
              </a:lnSpc>
            </a:pPr>
            <a:r>
              <a:rPr lang="tr-TR" dirty="0">
                <a:latin typeface="Times New Roman" panose="02020603050405020304" pitchFamily="18" charset="0"/>
                <a:cs typeface="Times New Roman" panose="02020603050405020304" pitchFamily="18" charset="0"/>
              </a:rPr>
              <a:t>2.Veriyi anlama</a:t>
            </a:r>
          </a:p>
          <a:p>
            <a:pPr>
              <a:lnSpc>
                <a:spcPct val="150000"/>
              </a:lnSpc>
            </a:pPr>
            <a:r>
              <a:rPr lang="tr-TR" dirty="0">
                <a:latin typeface="Times New Roman" panose="02020603050405020304" pitchFamily="18" charset="0"/>
                <a:cs typeface="Times New Roman" panose="02020603050405020304" pitchFamily="18" charset="0"/>
              </a:rPr>
              <a:t>3.Veriyi hazırlama</a:t>
            </a:r>
          </a:p>
          <a:p>
            <a:pPr>
              <a:lnSpc>
                <a:spcPct val="150000"/>
              </a:lnSpc>
            </a:pPr>
            <a:r>
              <a:rPr lang="tr-TR" dirty="0">
                <a:solidFill>
                  <a:schemeClr val="tx1"/>
                </a:solidFill>
                <a:latin typeface="Times New Roman" panose="02020603050405020304" pitchFamily="18" charset="0"/>
                <a:cs typeface="Times New Roman" panose="02020603050405020304" pitchFamily="18" charset="0"/>
              </a:rPr>
              <a:t>4.Modelleme</a:t>
            </a:r>
          </a:p>
          <a:p>
            <a:pPr>
              <a:lnSpc>
                <a:spcPct val="150000"/>
              </a:lnSpc>
            </a:pPr>
            <a:r>
              <a:rPr lang="tr-TR" dirty="0">
                <a:latin typeface="Times New Roman" panose="02020603050405020304" pitchFamily="18" charset="0"/>
                <a:cs typeface="Times New Roman" panose="02020603050405020304" pitchFamily="18" charset="0"/>
              </a:rPr>
              <a:t>5.Değerlendirme</a:t>
            </a:r>
          </a:p>
          <a:p>
            <a:pPr>
              <a:lnSpc>
                <a:spcPct val="150000"/>
              </a:lnSpc>
            </a:pPr>
            <a:r>
              <a:rPr lang="tr-TR" dirty="0">
                <a:latin typeface="Times New Roman" panose="02020603050405020304" pitchFamily="18" charset="0"/>
                <a:cs typeface="Times New Roman" panose="02020603050405020304" pitchFamily="18" charset="0"/>
              </a:rPr>
              <a:t>6.Uygulama</a:t>
            </a:r>
          </a:p>
        </p:txBody>
      </p:sp>
      <p:sp>
        <p:nvSpPr>
          <p:cNvPr id="4" name="Dikdörtgen 3">
            <a:extLst>
              <a:ext uri="{FF2B5EF4-FFF2-40B4-BE49-F238E27FC236}">
                <a16:creationId xmlns:a16="http://schemas.microsoft.com/office/drawing/2014/main" id="{9D844FA9-96FF-D92B-5478-C8536F798556}"/>
              </a:ext>
            </a:extLst>
          </p:cNvPr>
          <p:cNvSpPr/>
          <p:nvPr/>
        </p:nvSpPr>
        <p:spPr>
          <a:xfrm>
            <a:off x="1097280" y="4679615"/>
            <a:ext cx="2424396" cy="505995"/>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rgbClr val="C00000"/>
              </a:solidFill>
            </a:endParaRPr>
          </a:p>
        </p:txBody>
      </p:sp>
    </p:spTree>
    <p:extLst>
      <p:ext uri="{BB962C8B-B14F-4D97-AF65-F5344CB8AC3E}">
        <p14:creationId xmlns:p14="http://schemas.microsoft.com/office/powerpoint/2010/main" val="416711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369A6BE-C853-37F4-7F4D-66A4B2F33520}"/>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Veri Madenciliği Süreci</a:t>
            </a:r>
          </a:p>
        </p:txBody>
      </p:sp>
      <p:sp>
        <p:nvSpPr>
          <p:cNvPr id="3" name="İçerik Yer Tutucusu 2">
            <a:extLst>
              <a:ext uri="{FF2B5EF4-FFF2-40B4-BE49-F238E27FC236}">
                <a16:creationId xmlns:a16="http://schemas.microsoft.com/office/drawing/2014/main" id="{C80386DD-69C8-7006-DF57-9647101BE001}"/>
              </a:ext>
            </a:extLst>
          </p:cNvPr>
          <p:cNvSpPr>
            <a:spLocks noGrp="1"/>
          </p:cNvSpPr>
          <p:nvPr>
            <p:ph idx="1"/>
          </p:nvPr>
        </p:nvSpPr>
        <p:spPr/>
        <p:txBody>
          <a:bodyPr/>
          <a:lstStyle/>
          <a:p>
            <a:r>
              <a:rPr lang="tr-TR" dirty="0">
                <a:latin typeface="Times New Roman" panose="02020603050405020304" pitchFamily="18" charset="0"/>
                <a:cs typeface="Times New Roman" panose="02020603050405020304" pitchFamily="18" charset="0"/>
              </a:rPr>
              <a:t>Veri madenciliği süreci özetle; girdi verisinden anlamlı çıktı sonuçları üretmektir.</a:t>
            </a:r>
          </a:p>
          <a:p>
            <a:endParaRPr lang="tr-TR" dirty="0">
              <a:latin typeface="Times New Roman" panose="02020603050405020304" pitchFamily="18" charset="0"/>
              <a:cs typeface="Times New Roman" panose="02020603050405020304" pitchFamily="18" charset="0"/>
            </a:endParaRPr>
          </a:p>
          <a:p>
            <a:r>
              <a:rPr lang="tr-TR" dirty="0">
                <a:latin typeface="Times New Roman" panose="02020603050405020304" pitchFamily="18" charset="0"/>
                <a:cs typeface="Times New Roman" panose="02020603050405020304" pitchFamily="18" charset="0"/>
              </a:rPr>
              <a:t>Şekilde görüldüğü gibi girdinin çıktıya dönüşmesi için bir modelleme aşaması gereklidir.</a:t>
            </a:r>
          </a:p>
          <a:p>
            <a:endParaRPr lang="tr-TR" dirty="0">
              <a:latin typeface="Times New Roman" panose="02020603050405020304" pitchFamily="18" charset="0"/>
              <a:cs typeface="Times New Roman" panose="02020603050405020304" pitchFamily="18" charset="0"/>
            </a:endParaRPr>
          </a:p>
        </p:txBody>
      </p:sp>
      <p:grpSp>
        <p:nvGrpSpPr>
          <p:cNvPr id="14" name="Grup 13">
            <a:extLst>
              <a:ext uri="{FF2B5EF4-FFF2-40B4-BE49-F238E27FC236}">
                <a16:creationId xmlns:a16="http://schemas.microsoft.com/office/drawing/2014/main" id="{228A4ED9-F627-DF05-4211-41724E1ED291}"/>
              </a:ext>
            </a:extLst>
          </p:cNvPr>
          <p:cNvGrpSpPr/>
          <p:nvPr/>
        </p:nvGrpSpPr>
        <p:grpSpPr>
          <a:xfrm>
            <a:off x="3125403" y="4546638"/>
            <a:ext cx="4840171" cy="453678"/>
            <a:chOff x="2668203" y="4215063"/>
            <a:chExt cx="4840171" cy="453678"/>
          </a:xfrm>
        </p:grpSpPr>
        <p:sp>
          <p:nvSpPr>
            <p:cNvPr id="5" name="Dikdörtgen 4">
              <a:extLst>
                <a:ext uri="{FF2B5EF4-FFF2-40B4-BE49-F238E27FC236}">
                  <a16:creationId xmlns:a16="http://schemas.microsoft.com/office/drawing/2014/main" id="{01E32742-39A9-771C-4D55-63A9ECB27819}"/>
                </a:ext>
              </a:extLst>
            </p:cNvPr>
            <p:cNvSpPr/>
            <p:nvPr/>
          </p:nvSpPr>
          <p:spPr>
            <a:xfrm>
              <a:off x="4557562" y="4219921"/>
              <a:ext cx="1010653" cy="433137"/>
            </a:xfrm>
            <a:prstGeom prst="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tr-TR" dirty="0"/>
            </a:p>
          </p:txBody>
        </p:sp>
        <p:sp>
          <p:nvSpPr>
            <p:cNvPr id="6" name="Dikdörtgen 5">
              <a:extLst>
                <a:ext uri="{FF2B5EF4-FFF2-40B4-BE49-F238E27FC236}">
                  <a16:creationId xmlns:a16="http://schemas.microsoft.com/office/drawing/2014/main" id="{A91AF7D9-F00A-ECF5-D276-4986D04EAA0F}"/>
                </a:ext>
              </a:extLst>
            </p:cNvPr>
            <p:cNvSpPr/>
            <p:nvPr/>
          </p:nvSpPr>
          <p:spPr>
            <a:xfrm>
              <a:off x="2668203" y="4215063"/>
              <a:ext cx="1010653" cy="43313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tr-TR" dirty="0">
                  <a:latin typeface="Times New Roman" panose="02020603050405020304" pitchFamily="18" charset="0"/>
                  <a:cs typeface="Times New Roman" panose="02020603050405020304" pitchFamily="18" charset="0"/>
                </a:rPr>
                <a:t>Girdi </a:t>
              </a:r>
            </a:p>
          </p:txBody>
        </p:sp>
        <p:sp>
          <p:nvSpPr>
            <p:cNvPr id="7" name="Dikdörtgen 6">
              <a:extLst>
                <a:ext uri="{FF2B5EF4-FFF2-40B4-BE49-F238E27FC236}">
                  <a16:creationId xmlns:a16="http://schemas.microsoft.com/office/drawing/2014/main" id="{FA9E9590-FDC4-409D-D7C9-53F9327454D0}"/>
                </a:ext>
              </a:extLst>
            </p:cNvPr>
            <p:cNvSpPr/>
            <p:nvPr/>
          </p:nvSpPr>
          <p:spPr>
            <a:xfrm>
              <a:off x="6497721" y="4235604"/>
              <a:ext cx="1010653" cy="43313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tr-TR" dirty="0">
                  <a:latin typeface="Times New Roman" panose="02020603050405020304" pitchFamily="18" charset="0"/>
                  <a:cs typeface="Times New Roman" panose="02020603050405020304" pitchFamily="18" charset="0"/>
                </a:rPr>
                <a:t>Çıktı</a:t>
              </a:r>
            </a:p>
          </p:txBody>
        </p:sp>
        <p:cxnSp>
          <p:nvCxnSpPr>
            <p:cNvPr id="12" name="Düz Ok Bağlayıcısı 11">
              <a:extLst>
                <a:ext uri="{FF2B5EF4-FFF2-40B4-BE49-F238E27FC236}">
                  <a16:creationId xmlns:a16="http://schemas.microsoft.com/office/drawing/2014/main" id="{EF666E3E-7D3A-02B2-E71F-8CEFFDBD1104}"/>
                </a:ext>
              </a:extLst>
            </p:cNvPr>
            <p:cNvCxnSpPr>
              <a:stCxn id="6" idx="3"/>
              <a:endCxn id="5" idx="1"/>
            </p:cNvCxnSpPr>
            <p:nvPr/>
          </p:nvCxnSpPr>
          <p:spPr>
            <a:xfrm>
              <a:off x="3678856" y="4431632"/>
              <a:ext cx="878706" cy="4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Düz Ok Bağlayıcısı 12">
              <a:extLst>
                <a:ext uri="{FF2B5EF4-FFF2-40B4-BE49-F238E27FC236}">
                  <a16:creationId xmlns:a16="http://schemas.microsoft.com/office/drawing/2014/main" id="{A8AEA129-1252-C438-E630-1B02F5202299}"/>
                </a:ext>
              </a:extLst>
            </p:cNvPr>
            <p:cNvCxnSpPr/>
            <p:nvPr/>
          </p:nvCxnSpPr>
          <p:spPr>
            <a:xfrm>
              <a:off x="5593882" y="4431631"/>
              <a:ext cx="878706" cy="4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5" name="Dikdörtgen 14">
            <a:extLst>
              <a:ext uri="{FF2B5EF4-FFF2-40B4-BE49-F238E27FC236}">
                <a16:creationId xmlns:a16="http://schemas.microsoft.com/office/drawing/2014/main" id="{CBC05F6A-8B37-8B00-E74F-4E0750FD33BE}"/>
              </a:ext>
            </a:extLst>
          </p:cNvPr>
          <p:cNvSpPr/>
          <p:nvPr/>
        </p:nvSpPr>
        <p:spPr>
          <a:xfrm>
            <a:off x="2993222" y="4512846"/>
            <a:ext cx="5422900" cy="113368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6" name="Aşağı Ok 15">
            <a:extLst>
              <a:ext uri="{FF2B5EF4-FFF2-40B4-BE49-F238E27FC236}">
                <a16:creationId xmlns:a16="http://schemas.microsoft.com/office/drawing/2014/main" id="{A0776E7A-A4AA-62BE-5516-5DE090CDAA53}"/>
              </a:ext>
            </a:extLst>
          </p:cNvPr>
          <p:cNvSpPr/>
          <p:nvPr/>
        </p:nvSpPr>
        <p:spPr>
          <a:xfrm>
            <a:off x="5346432" y="5126249"/>
            <a:ext cx="347312"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Metin kutusu 16">
            <a:extLst>
              <a:ext uri="{FF2B5EF4-FFF2-40B4-BE49-F238E27FC236}">
                <a16:creationId xmlns:a16="http://schemas.microsoft.com/office/drawing/2014/main" id="{4BEF4AF0-DDA0-8B8D-8B69-5060C262E324}"/>
              </a:ext>
            </a:extLst>
          </p:cNvPr>
          <p:cNvSpPr txBox="1"/>
          <p:nvPr/>
        </p:nvSpPr>
        <p:spPr>
          <a:xfrm>
            <a:off x="4880810" y="5659782"/>
            <a:ext cx="1647725" cy="923330"/>
          </a:xfrm>
          <a:prstGeom prst="rect">
            <a:avLst/>
          </a:prstGeom>
          <a:noFill/>
        </p:spPr>
        <p:txBody>
          <a:bodyPr wrap="square" rtlCol="0">
            <a:spAutoFit/>
          </a:bodyPr>
          <a:lstStyle/>
          <a:p>
            <a:r>
              <a:rPr lang="tr-TR" dirty="0">
                <a:latin typeface="Times New Roman" panose="02020603050405020304" pitchFamily="18" charset="0"/>
                <a:cs typeface="Times New Roman" panose="02020603050405020304" pitchFamily="18" charset="0"/>
              </a:rPr>
              <a:t>Modelleme </a:t>
            </a:r>
          </a:p>
          <a:p>
            <a:r>
              <a:rPr lang="tr-TR" dirty="0">
                <a:latin typeface="Times New Roman" panose="02020603050405020304" pitchFamily="18" charset="0"/>
                <a:cs typeface="Times New Roman" panose="02020603050405020304" pitchFamily="18" charset="0"/>
              </a:rPr>
              <a:t>        ve </a:t>
            </a:r>
          </a:p>
          <a:p>
            <a:r>
              <a:rPr lang="tr-TR" dirty="0">
                <a:latin typeface="Times New Roman" panose="02020603050405020304" pitchFamily="18" charset="0"/>
                <a:cs typeface="Times New Roman" panose="02020603050405020304" pitchFamily="18" charset="0"/>
              </a:rPr>
              <a:t>Veri işleme</a:t>
            </a:r>
          </a:p>
        </p:txBody>
      </p:sp>
    </p:spTree>
    <p:extLst>
      <p:ext uri="{BB962C8B-B14F-4D97-AF65-F5344CB8AC3E}">
        <p14:creationId xmlns:p14="http://schemas.microsoft.com/office/powerpoint/2010/main" val="2834714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4B06A4C-5A03-0335-4D97-25AEB6D808CA}"/>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Veri Modelleme </a:t>
            </a:r>
          </a:p>
        </p:txBody>
      </p:sp>
      <p:sp>
        <p:nvSpPr>
          <p:cNvPr id="3" name="İçerik Yer Tutucusu 2">
            <a:extLst>
              <a:ext uri="{FF2B5EF4-FFF2-40B4-BE49-F238E27FC236}">
                <a16:creationId xmlns:a16="http://schemas.microsoft.com/office/drawing/2014/main" id="{688ACB99-DE28-FBEC-793D-355C3AC01E7F}"/>
              </a:ext>
            </a:extLst>
          </p:cNvPr>
          <p:cNvSpPr>
            <a:spLocks noGrp="1"/>
          </p:cNvSpPr>
          <p:nvPr>
            <p:ph idx="1"/>
          </p:nvPr>
        </p:nvSpPr>
        <p:spPr>
          <a:xfrm>
            <a:off x="1097280" y="1845734"/>
            <a:ext cx="10058400" cy="4351866"/>
          </a:xfrm>
        </p:spPr>
        <p:txBody>
          <a:bodyPr>
            <a:normAutofit fontScale="85000" lnSpcReduction="20000"/>
          </a:bodyPr>
          <a:lstStyle/>
          <a:p>
            <a:pPr marL="0" indent="0" algn="just">
              <a:lnSpc>
                <a:spcPct val="150000"/>
              </a:lnSpc>
              <a:buNone/>
            </a:pPr>
            <a:r>
              <a:rPr lang="tr-TR" dirty="0">
                <a:latin typeface="Times New Roman" panose="02020603050405020304" pitchFamily="18" charset="0"/>
                <a:cs typeface="Times New Roman" panose="02020603050405020304" pitchFamily="18" charset="0"/>
              </a:rPr>
              <a:t>Bir analiz yaparken sonuçların doğru yorumlanması kadar doğru modellenmesi de önemlidir.</a:t>
            </a:r>
          </a:p>
          <a:p>
            <a:pPr marL="0" indent="0" algn="just">
              <a:lnSpc>
                <a:spcPct val="150000"/>
              </a:lnSpc>
              <a:buNone/>
            </a:pPr>
            <a:r>
              <a:rPr lang="tr-TR" dirty="0">
                <a:latin typeface="Times New Roman" panose="02020603050405020304" pitchFamily="18" charset="0"/>
                <a:cs typeface="Times New Roman" panose="02020603050405020304" pitchFamily="18" charset="0"/>
              </a:rPr>
              <a:t>Verinin işlendiği ve anlamlı sonuçlar üretildiği aşama olan veri modelleme aşamasında farklı yaklaşım, yöntem ve teknikler kullanılabilir. </a:t>
            </a:r>
          </a:p>
          <a:p>
            <a:pPr marL="0" indent="0" algn="just">
              <a:lnSpc>
                <a:spcPct val="150000"/>
              </a:lnSpc>
              <a:buNone/>
            </a:pPr>
            <a:r>
              <a:rPr lang="tr-TR" dirty="0">
                <a:latin typeface="Times New Roman" panose="02020603050405020304" pitchFamily="18" charset="0"/>
                <a:cs typeface="Times New Roman" panose="02020603050405020304" pitchFamily="18" charset="0"/>
              </a:rPr>
              <a:t>Veri önişleme adımlarına göre hazırlanmış olan veriler üzerinde problemin amacına uygun modelleme yapılarak uygun yöntemler kullanılmalıdır.</a:t>
            </a:r>
          </a:p>
          <a:p>
            <a:pPr marL="0" indent="0" algn="just">
              <a:lnSpc>
                <a:spcPct val="150000"/>
              </a:lnSpc>
              <a:buNone/>
            </a:pPr>
            <a:r>
              <a:rPr lang="tr-TR" dirty="0">
                <a:latin typeface="Times New Roman" panose="02020603050405020304" pitchFamily="18" charset="0"/>
                <a:cs typeface="Times New Roman" panose="02020603050405020304" pitchFamily="18" charset="0"/>
              </a:rPr>
              <a:t>Problem için en uygun modelin bulunabilmesi bazen zor olabilmektedir. Bunun için çok sayıda modelin kurularak denenmesi gerekebilmektedir. </a:t>
            </a:r>
          </a:p>
          <a:p>
            <a:pPr algn="just">
              <a:lnSpc>
                <a:spcPct val="150000"/>
              </a:lnSpc>
            </a:pPr>
            <a:endParaRPr lang="tr-T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494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4B06A4C-5A03-0335-4D97-25AEB6D808CA}"/>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Veri Modelleme </a:t>
            </a:r>
          </a:p>
        </p:txBody>
      </p:sp>
      <p:sp>
        <p:nvSpPr>
          <p:cNvPr id="3" name="İçerik Yer Tutucusu 2">
            <a:extLst>
              <a:ext uri="{FF2B5EF4-FFF2-40B4-BE49-F238E27FC236}">
                <a16:creationId xmlns:a16="http://schemas.microsoft.com/office/drawing/2014/main" id="{688ACB99-DE28-FBEC-793D-355C3AC01E7F}"/>
              </a:ext>
            </a:extLst>
          </p:cNvPr>
          <p:cNvSpPr>
            <a:spLocks noGrp="1"/>
          </p:cNvSpPr>
          <p:nvPr>
            <p:ph idx="1"/>
          </p:nvPr>
        </p:nvSpPr>
        <p:spPr>
          <a:xfrm>
            <a:off x="1097280" y="1845734"/>
            <a:ext cx="10058400" cy="3400034"/>
          </a:xfrm>
        </p:spPr>
        <p:txBody>
          <a:bodyPr>
            <a:normAutofit fontScale="85000" lnSpcReduction="20000"/>
          </a:bodyPr>
          <a:lstStyle/>
          <a:p>
            <a:pPr algn="just">
              <a:lnSpc>
                <a:spcPct val="150000"/>
              </a:lnSpc>
            </a:pPr>
            <a:r>
              <a:rPr lang="tr-TR" dirty="0">
                <a:latin typeface="Times New Roman" panose="02020603050405020304" pitchFamily="18" charset="0"/>
                <a:cs typeface="Times New Roman" panose="02020603050405020304" pitchFamily="18" charset="0"/>
              </a:rPr>
              <a:t>Veri madenciliği modelleme aşamasında makine öğrenme yöntemlerinden yararlanılabilir. </a:t>
            </a:r>
          </a:p>
          <a:p>
            <a:pPr algn="just">
              <a:lnSpc>
                <a:spcPct val="150000"/>
              </a:lnSpc>
            </a:pPr>
            <a:r>
              <a:rPr lang="tr-TR" dirty="0">
                <a:latin typeface="Times New Roman" panose="02020603050405020304" pitchFamily="18" charset="0"/>
                <a:cs typeface="Times New Roman" panose="02020603050405020304" pitchFamily="18" charset="0"/>
              </a:rPr>
              <a:t>Makinenin öğrenmesi için eğitilmeye ihtiyacı vardır. </a:t>
            </a:r>
          </a:p>
          <a:p>
            <a:pPr algn="just">
              <a:lnSpc>
                <a:spcPct val="150000"/>
              </a:lnSpc>
            </a:pPr>
            <a:r>
              <a:rPr lang="tr-TR" dirty="0">
                <a:latin typeface="Times New Roman" panose="02020603050405020304" pitchFamily="18" charset="0"/>
                <a:cs typeface="Times New Roman" panose="02020603050405020304" pitchFamily="18" charset="0"/>
              </a:rPr>
              <a:t>Eğitilmek içinde veri ve istatistiklere ihtiyacı vardır. </a:t>
            </a:r>
          </a:p>
          <a:p>
            <a:pPr algn="just">
              <a:lnSpc>
                <a:spcPct val="150000"/>
              </a:lnSpc>
            </a:pPr>
            <a:r>
              <a:rPr lang="tr-TR" dirty="0">
                <a:latin typeface="Times New Roman" panose="02020603050405020304" pitchFamily="18" charset="0"/>
                <a:cs typeface="Times New Roman" panose="02020603050405020304" pitchFamily="18" charset="0"/>
              </a:rPr>
              <a:t>Makine öğrenme yöntemleri, problemin amacına ve toplanan veri setine göre farklılaşmaktadır.</a:t>
            </a:r>
          </a:p>
          <a:p>
            <a:pPr algn="just">
              <a:lnSpc>
                <a:spcPct val="150000"/>
              </a:lnSpc>
            </a:pPr>
            <a:endParaRPr lang="tr-T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5981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6AC4E50-E67C-E24E-7BCA-7D14C787005B}"/>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Veri Modelleme Analiz Yaklaşımları</a:t>
            </a:r>
          </a:p>
        </p:txBody>
      </p:sp>
      <p:sp>
        <p:nvSpPr>
          <p:cNvPr id="3" name="İçerik Yer Tutucusu 2">
            <a:extLst>
              <a:ext uri="{FF2B5EF4-FFF2-40B4-BE49-F238E27FC236}">
                <a16:creationId xmlns:a16="http://schemas.microsoft.com/office/drawing/2014/main" id="{3BEB5C17-B0B6-BD71-D88A-D45CC5560DD1}"/>
              </a:ext>
            </a:extLst>
          </p:cNvPr>
          <p:cNvSpPr>
            <a:spLocks noGrp="1"/>
          </p:cNvSpPr>
          <p:nvPr>
            <p:ph idx="1"/>
          </p:nvPr>
        </p:nvSpPr>
        <p:spPr/>
        <p:txBody>
          <a:bodyPr>
            <a:normAutofit/>
          </a:bodyPr>
          <a:lstStyle/>
          <a:p>
            <a:pPr>
              <a:lnSpc>
                <a:spcPct val="150000"/>
              </a:lnSpc>
            </a:pPr>
            <a:r>
              <a:rPr lang="tr-TR" dirty="0">
                <a:latin typeface="Times New Roman" panose="02020603050405020304" pitchFamily="18" charset="0"/>
                <a:cs typeface="Times New Roman" panose="02020603050405020304" pitchFamily="18" charset="0"/>
              </a:rPr>
              <a:t>Veri madenciliği ile bir problemin çözümünü sağlarken hangi analiz yaklaşım ve yöntemini kullanacağımız sürecin en önemli kararlarından biridir.</a:t>
            </a:r>
          </a:p>
          <a:p>
            <a:pPr>
              <a:lnSpc>
                <a:spcPct val="150000"/>
              </a:lnSpc>
            </a:pPr>
            <a:r>
              <a:rPr lang="tr-TR" dirty="0">
                <a:solidFill>
                  <a:srgbClr val="C00000"/>
                </a:solidFill>
                <a:latin typeface="Times New Roman" panose="02020603050405020304" pitchFamily="18" charset="0"/>
                <a:cs typeface="Times New Roman" panose="02020603050405020304" pitchFamily="18" charset="0"/>
              </a:rPr>
              <a:t>Buna karar verirken aşağıdaki iki hususa dikkat edilmelidir.</a:t>
            </a:r>
          </a:p>
          <a:p>
            <a:pPr marL="0" indent="0">
              <a:lnSpc>
                <a:spcPct val="150000"/>
              </a:lnSpc>
              <a:buNone/>
            </a:pPr>
            <a:r>
              <a:rPr lang="tr-TR" dirty="0">
                <a:latin typeface="Times New Roman" panose="02020603050405020304" pitchFamily="18" charset="0"/>
                <a:cs typeface="Times New Roman" panose="02020603050405020304" pitchFamily="18" charset="0"/>
              </a:rPr>
              <a:t>1.Problemin amacı ne?</a:t>
            </a:r>
          </a:p>
          <a:p>
            <a:pPr marL="0" indent="0">
              <a:lnSpc>
                <a:spcPct val="150000"/>
              </a:lnSpc>
              <a:buNone/>
            </a:pPr>
            <a:r>
              <a:rPr lang="tr-TR" dirty="0">
                <a:latin typeface="Times New Roman" panose="02020603050405020304" pitchFamily="18" charset="0"/>
                <a:cs typeface="Times New Roman" panose="02020603050405020304" pitchFamily="18" charset="0"/>
              </a:rPr>
              <a:t>2. Veri setinin hedef değerinin türü ne?</a:t>
            </a:r>
          </a:p>
        </p:txBody>
      </p:sp>
    </p:spTree>
    <p:extLst>
      <p:ext uri="{BB962C8B-B14F-4D97-AF65-F5344CB8AC3E}">
        <p14:creationId xmlns:p14="http://schemas.microsoft.com/office/powerpoint/2010/main" val="298295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54826E5-8549-6E1B-DE61-685B9290E949}"/>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Veri Modelleme Analiz Yaklaşımları </a:t>
            </a:r>
            <a:br>
              <a:rPr lang="tr-TR" dirty="0">
                <a:solidFill>
                  <a:srgbClr val="C00000"/>
                </a:solidFill>
                <a:latin typeface="Times New Roman" panose="02020603050405020304" pitchFamily="18" charset="0"/>
                <a:cs typeface="Times New Roman" panose="02020603050405020304" pitchFamily="18" charset="0"/>
              </a:rPr>
            </a:br>
            <a:r>
              <a:rPr lang="tr-TR" dirty="0">
                <a:solidFill>
                  <a:srgbClr val="C00000"/>
                </a:solidFill>
                <a:latin typeface="Times New Roman" panose="02020603050405020304" pitchFamily="18" charset="0"/>
                <a:cs typeface="Times New Roman" panose="02020603050405020304" pitchFamily="18" charset="0"/>
              </a:rPr>
              <a:t>Problem Amacına Göre</a:t>
            </a:r>
            <a:endParaRPr lang="tr-TR" dirty="0">
              <a:latin typeface="Times New Roman" panose="02020603050405020304" pitchFamily="18" charset="0"/>
              <a:cs typeface="Times New Roman" panose="02020603050405020304" pitchFamily="18" charset="0"/>
            </a:endParaRPr>
          </a:p>
        </p:txBody>
      </p:sp>
      <p:graphicFrame>
        <p:nvGraphicFramePr>
          <p:cNvPr id="4" name="Diyagram 3">
            <a:extLst>
              <a:ext uri="{FF2B5EF4-FFF2-40B4-BE49-F238E27FC236}">
                <a16:creationId xmlns:a16="http://schemas.microsoft.com/office/drawing/2014/main" id="{7F4334F5-90AC-FAB7-7669-9FD812E09CCB}"/>
              </a:ext>
            </a:extLst>
          </p:cNvPr>
          <p:cNvGraphicFramePr/>
          <p:nvPr/>
        </p:nvGraphicFramePr>
        <p:xfrm>
          <a:off x="1628107" y="2400300"/>
          <a:ext cx="8935786" cy="27203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6917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4749C48-1256-C072-5E4F-C7F0D8CB7311}"/>
              </a:ext>
            </a:extLst>
          </p:cNvPr>
          <p:cNvSpPr>
            <a:spLocks noGrp="1"/>
          </p:cNvSpPr>
          <p:nvPr>
            <p:ph type="title"/>
          </p:nvPr>
        </p:nvSpPr>
        <p:spPr/>
        <p:txBody>
          <a:bodyPr/>
          <a:lstStyle/>
          <a:p>
            <a:pPr algn="just"/>
            <a:r>
              <a:rPr lang="tr-TR" dirty="0">
                <a:solidFill>
                  <a:srgbClr val="C00000"/>
                </a:solidFill>
                <a:latin typeface="Times New Roman" panose="02020603050405020304" pitchFamily="18" charset="0"/>
                <a:cs typeface="Times New Roman" panose="02020603050405020304" pitchFamily="18" charset="0"/>
              </a:rPr>
              <a:t>Veri Modelleme Analiz Yaklaşımları Tahmin/Tanımlama</a:t>
            </a:r>
          </a:p>
        </p:txBody>
      </p:sp>
      <p:sp>
        <p:nvSpPr>
          <p:cNvPr id="3" name="İçerik Yer Tutucusu 2">
            <a:extLst>
              <a:ext uri="{FF2B5EF4-FFF2-40B4-BE49-F238E27FC236}">
                <a16:creationId xmlns:a16="http://schemas.microsoft.com/office/drawing/2014/main" id="{CDB0BD29-EDBA-9022-7CD6-F10CA21A58E6}"/>
              </a:ext>
            </a:extLst>
          </p:cNvPr>
          <p:cNvSpPr>
            <a:spLocks noGrp="1"/>
          </p:cNvSpPr>
          <p:nvPr>
            <p:ph idx="1"/>
          </p:nvPr>
        </p:nvSpPr>
        <p:spPr/>
        <p:txBody>
          <a:bodyPr>
            <a:normAutofit/>
          </a:bodyPr>
          <a:lstStyle/>
          <a:p>
            <a:pPr marL="0" indent="0">
              <a:lnSpc>
                <a:spcPct val="160000"/>
              </a:lnSpc>
              <a:buNone/>
            </a:pPr>
            <a:r>
              <a:rPr lang="tr-TR" dirty="0">
                <a:solidFill>
                  <a:srgbClr val="292929"/>
                </a:solidFill>
                <a:latin typeface="Times New Roman" panose="02020603050405020304" pitchFamily="18" charset="0"/>
                <a:cs typeface="Times New Roman" panose="02020603050405020304" pitchFamily="18" charset="0"/>
              </a:rPr>
              <a:t>M</a:t>
            </a:r>
            <a:r>
              <a:rPr lang="tr-TR" i="0" u="none" strike="noStrike" dirty="0">
                <a:solidFill>
                  <a:srgbClr val="292929"/>
                </a:solidFill>
                <a:effectLst/>
                <a:latin typeface="Times New Roman" panose="02020603050405020304" pitchFamily="18" charset="0"/>
                <a:cs typeface="Times New Roman" panose="02020603050405020304" pitchFamily="18" charset="0"/>
              </a:rPr>
              <a:t>akine öğrenmede kullanılan yöntemler;</a:t>
            </a:r>
          </a:p>
          <a:p>
            <a:pPr marL="578358" lvl="1" indent="-285750">
              <a:lnSpc>
                <a:spcPct val="160000"/>
              </a:lnSpc>
            </a:pPr>
            <a:r>
              <a:rPr lang="tr-TR" i="0" u="none" strike="noStrike" dirty="0">
                <a:solidFill>
                  <a:srgbClr val="292929"/>
                </a:solidFill>
                <a:effectLst/>
                <a:latin typeface="Times New Roman" panose="02020603050405020304" pitchFamily="18" charset="0"/>
                <a:cs typeface="Times New Roman" panose="02020603050405020304" pitchFamily="18" charset="0"/>
              </a:rPr>
              <a:t>tahmin edici (denetimli öğrenme) </a:t>
            </a:r>
          </a:p>
          <a:p>
            <a:pPr marL="578358" lvl="1" indent="-285750">
              <a:lnSpc>
                <a:spcPct val="160000"/>
              </a:lnSpc>
            </a:pPr>
            <a:r>
              <a:rPr lang="tr-TR" i="0" u="none" strike="noStrike" dirty="0">
                <a:solidFill>
                  <a:srgbClr val="292929"/>
                </a:solidFill>
                <a:effectLst/>
                <a:latin typeface="Times New Roman" panose="02020603050405020304" pitchFamily="18" charset="0"/>
                <a:cs typeface="Times New Roman" panose="02020603050405020304" pitchFamily="18" charset="0"/>
              </a:rPr>
              <a:t>tanımlayıcı (denetimsiz öğrenme)</a:t>
            </a:r>
          </a:p>
          <a:p>
            <a:pPr marL="0" indent="0">
              <a:lnSpc>
                <a:spcPct val="160000"/>
              </a:lnSpc>
              <a:buNone/>
            </a:pPr>
            <a:r>
              <a:rPr lang="tr-TR" i="0" u="none" strike="noStrike" dirty="0">
                <a:solidFill>
                  <a:srgbClr val="292929"/>
                </a:solidFill>
                <a:effectLst/>
                <a:latin typeface="Times New Roman" panose="02020603050405020304" pitchFamily="18" charset="0"/>
                <a:cs typeface="Times New Roman" panose="02020603050405020304" pitchFamily="18" charset="0"/>
              </a:rPr>
              <a:t>olarak da sınıflandırılmaktadır.</a:t>
            </a:r>
            <a:endParaRPr lang="tr-TR" dirty="0">
              <a:solidFill>
                <a:srgbClr val="29292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7693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FD504C0-7F58-E940-E149-3ACB26BD2EB0}"/>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Tahmin edici yöntemler</a:t>
            </a:r>
          </a:p>
        </p:txBody>
      </p:sp>
      <p:sp>
        <p:nvSpPr>
          <p:cNvPr id="3" name="İçerik Yer Tutucusu 2">
            <a:extLst>
              <a:ext uri="{FF2B5EF4-FFF2-40B4-BE49-F238E27FC236}">
                <a16:creationId xmlns:a16="http://schemas.microsoft.com/office/drawing/2014/main" id="{AFD27F71-C174-A0C1-DEE9-B6A839045FFA}"/>
              </a:ext>
            </a:extLst>
          </p:cNvPr>
          <p:cNvSpPr>
            <a:spLocks noGrp="1"/>
          </p:cNvSpPr>
          <p:nvPr>
            <p:ph idx="1"/>
          </p:nvPr>
        </p:nvSpPr>
        <p:spPr/>
        <p:txBody>
          <a:bodyPr/>
          <a:lstStyle/>
          <a:p>
            <a:pPr algn="just">
              <a:lnSpc>
                <a:spcPct val="150000"/>
              </a:lnSpc>
            </a:pPr>
            <a:r>
              <a:rPr lang="tr-TR" sz="2000" i="0" u="none" strike="noStrike" dirty="0">
                <a:solidFill>
                  <a:srgbClr val="292929"/>
                </a:solidFill>
                <a:effectLst/>
                <a:latin typeface="Times New Roman" panose="02020603050405020304" pitchFamily="18" charset="0"/>
                <a:cs typeface="Times New Roman" panose="02020603050405020304" pitchFamily="18" charset="0"/>
              </a:rPr>
              <a:t>Tahmin edici yöntemlerde, sonuç yani çıktı değerleri bilinen verilerden öğrenerek bir model oluşturulur ve sonrasında bu modelden yola çıkılarak sonuç değerleri bilinmeyen veriler için tahminler yapılır. </a:t>
            </a:r>
          </a:p>
          <a:p>
            <a:pPr algn="just">
              <a:lnSpc>
                <a:spcPct val="150000"/>
              </a:lnSpc>
            </a:pPr>
            <a:r>
              <a:rPr lang="tr-TR" sz="2000" i="0" u="none" strike="noStrike" dirty="0">
                <a:solidFill>
                  <a:srgbClr val="292929"/>
                </a:solidFill>
                <a:effectLst/>
                <a:latin typeface="Times New Roman" panose="02020603050405020304" pitchFamily="18" charset="0"/>
                <a:cs typeface="Times New Roman" panose="02020603050405020304" pitchFamily="18" charset="0"/>
              </a:rPr>
              <a:t>Bu yöntemler;</a:t>
            </a:r>
          </a:p>
          <a:p>
            <a:pPr marL="578358" lvl="1" indent="-285750">
              <a:lnSpc>
                <a:spcPct val="150000"/>
              </a:lnSpc>
            </a:pPr>
            <a:r>
              <a:rPr lang="tr-TR" b="0" i="0" u="none" strike="noStrike" dirty="0">
                <a:solidFill>
                  <a:srgbClr val="292929"/>
                </a:solidFill>
                <a:effectLst/>
                <a:latin typeface="Times New Roman" panose="02020603050405020304" pitchFamily="18" charset="0"/>
                <a:cs typeface="Times New Roman" panose="02020603050405020304" pitchFamily="18" charset="0"/>
              </a:rPr>
              <a:t>Sınıflama </a:t>
            </a:r>
          </a:p>
          <a:p>
            <a:pPr marL="578358" lvl="1" indent="-285750">
              <a:lnSpc>
                <a:spcPct val="150000"/>
              </a:lnSpc>
            </a:pPr>
            <a:r>
              <a:rPr lang="tr-TR" b="0" i="0" u="none" strike="noStrike" dirty="0">
                <a:solidFill>
                  <a:srgbClr val="292929"/>
                </a:solidFill>
                <a:effectLst/>
                <a:latin typeface="Times New Roman" panose="02020603050405020304" pitchFamily="18" charset="0"/>
                <a:cs typeface="Times New Roman" panose="02020603050405020304" pitchFamily="18" charset="0"/>
              </a:rPr>
              <a:t>Regresyon</a:t>
            </a:r>
          </a:p>
          <a:p>
            <a:pPr marL="578358" lvl="1" indent="-285750">
              <a:lnSpc>
                <a:spcPct val="150000"/>
              </a:lnSpc>
            </a:pPr>
            <a:r>
              <a:rPr lang="tr-TR" b="0" i="0" u="none" strike="noStrike" dirty="0">
                <a:solidFill>
                  <a:srgbClr val="292929"/>
                </a:solidFill>
                <a:effectLst/>
                <a:latin typeface="Times New Roman" panose="02020603050405020304" pitchFamily="18" charset="0"/>
                <a:cs typeface="Times New Roman" panose="02020603050405020304" pitchFamily="18" charset="0"/>
              </a:rPr>
              <a:t>Zaman Serisi Analizi</a:t>
            </a:r>
            <a:endParaRPr lang="tr-T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1159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E0CCAB-A60A-CEF6-2E64-2154CCFCFAEA}"/>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Tanımlayıcı yöntemler</a:t>
            </a:r>
          </a:p>
        </p:txBody>
      </p:sp>
      <p:sp>
        <p:nvSpPr>
          <p:cNvPr id="3" name="İçerik Yer Tutucusu 2">
            <a:extLst>
              <a:ext uri="{FF2B5EF4-FFF2-40B4-BE49-F238E27FC236}">
                <a16:creationId xmlns:a16="http://schemas.microsoft.com/office/drawing/2014/main" id="{BFF79713-5EB5-FD41-AA49-2C46E76AF81A}"/>
              </a:ext>
            </a:extLst>
          </p:cNvPr>
          <p:cNvSpPr>
            <a:spLocks noGrp="1"/>
          </p:cNvSpPr>
          <p:nvPr>
            <p:ph idx="1"/>
          </p:nvPr>
        </p:nvSpPr>
        <p:spPr/>
        <p:txBody>
          <a:bodyPr/>
          <a:lstStyle/>
          <a:p>
            <a:pPr>
              <a:lnSpc>
                <a:spcPct val="150000"/>
              </a:lnSpc>
            </a:pPr>
            <a:r>
              <a:rPr lang="tr-TR" sz="2000" i="0" u="none" strike="noStrike" dirty="0">
                <a:solidFill>
                  <a:srgbClr val="292929"/>
                </a:solidFill>
                <a:effectLst/>
                <a:latin typeface="Times New Roman" panose="02020603050405020304" pitchFamily="18" charset="0"/>
                <a:cs typeface="Times New Roman" panose="02020603050405020304" pitchFamily="18" charset="0"/>
              </a:rPr>
              <a:t>Tanımlayıcı yöntemlerde; karar vermeye yol gösterecek yani rehberlik sunacak verilerdeki örüntüler tanımlanmaktadır.</a:t>
            </a:r>
          </a:p>
          <a:p>
            <a:pPr lvl="1">
              <a:lnSpc>
                <a:spcPct val="150000"/>
              </a:lnSpc>
            </a:pPr>
            <a:r>
              <a:rPr lang="tr-TR" dirty="0">
                <a:solidFill>
                  <a:srgbClr val="292929"/>
                </a:solidFill>
                <a:latin typeface="Times New Roman" panose="02020603050405020304" pitchFamily="18" charset="0"/>
                <a:cs typeface="Times New Roman" panose="02020603050405020304" pitchFamily="18" charset="0"/>
              </a:rPr>
              <a:t>Kümeleme</a:t>
            </a:r>
          </a:p>
          <a:p>
            <a:pPr lvl="1">
              <a:lnSpc>
                <a:spcPct val="150000"/>
              </a:lnSpc>
            </a:pPr>
            <a:r>
              <a:rPr lang="tr-TR">
                <a:solidFill>
                  <a:srgbClr val="292929"/>
                </a:solidFill>
                <a:latin typeface="Times New Roman" panose="02020603050405020304" pitchFamily="18" charset="0"/>
                <a:cs typeface="Times New Roman" panose="02020603050405020304" pitchFamily="18" charset="0"/>
              </a:rPr>
              <a:t>Birliktelik Kuralı</a:t>
            </a:r>
            <a:endParaRPr lang="tr-TR" dirty="0">
              <a:solidFill>
                <a:srgbClr val="29292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9990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9BDC6BB-9572-D0D0-76CE-84AFA8A006DA}"/>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Veri Modelleme Analiz Yaklaşımları </a:t>
            </a:r>
            <a:br>
              <a:rPr lang="tr-TR" dirty="0">
                <a:solidFill>
                  <a:srgbClr val="C00000"/>
                </a:solidFill>
                <a:latin typeface="Times New Roman" panose="02020603050405020304" pitchFamily="18" charset="0"/>
                <a:cs typeface="Times New Roman" panose="02020603050405020304" pitchFamily="18" charset="0"/>
              </a:rPr>
            </a:br>
            <a:r>
              <a:rPr lang="tr-TR" dirty="0">
                <a:solidFill>
                  <a:srgbClr val="C00000"/>
                </a:solidFill>
                <a:latin typeface="Times New Roman" panose="02020603050405020304" pitchFamily="18" charset="0"/>
                <a:cs typeface="Times New Roman" panose="02020603050405020304" pitchFamily="18" charset="0"/>
              </a:rPr>
              <a:t>Veri Seti Hedef Değere Göre</a:t>
            </a:r>
            <a:endParaRPr lang="tr-TR" dirty="0">
              <a:solidFill>
                <a:srgbClr val="C00000"/>
              </a:solidFill>
            </a:endParaRPr>
          </a:p>
        </p:txBody>
      </p:sp>
      <p:pic>
        <p:nvPicPr>
          <p:cNvPr id="4" name="İçerik Yer Tutucusu 3">
            <a:extLst>
              <a:ext uri="{FF2B5EF4-FFF2-40B4-BE49-F238E27FC236}">
                <a16:creationId xmlns:a16="http://schemas.microsoft.com/office/drawing/2014/main" id="{F11BBDDA-327B-34BB-37B7-EC102F0C45D1}"/>
              </a:ext>
            </a:extLst>
          </p:cNvPr>
          <p:cNvPicPr>
            <a:picLocks noGrp="1" noChangeAspect="1"/>
          </p:cNvPicPr>
          <p:nvPr>
            <p:ph idx="1"/>
          </p:nvPr>
        </p:nvPicPr>
        <p:blipFill>
          <a:blip r:embed="rId2"/>
          <a:stretch>
            <a:fillRect/>
          </a:stretch>
        </p:blipFill>
        <p:spPr>
          <a:xfrm>
            <a:off x="633412" y="1990724"/>
            <a:ext cx="10185969" cy="3521076"/>
          </a:xfrm>
          <a:prstGeom prst="rect">
            <a:avLst/>
          </a:prstGeom>
        </p:spPr>
      </p:pic>
    </p:spTree>
    <p:extLst>
      <p:ext uri="{BB962C8B-B14F-4D97-AF65-F5344CB8AC3E}">
        <p14:creationId xmlns:p14="http://schemas.microsoft.com/office/powerpoint/2010/main" val="296335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87AC23-6394-A5CC-B366-5BB6635AF1DA}"/>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Denetimli Öğrenme</a:t>
            </a:r>
          </a:p>
        </p:txBody>
      </p:sp>
      <p:sp>
        <p:nvSpPr>
          <p:cNvPr id="3" name="İçerik Yer Tutucusu 2">
            <a:extLst>
              <a:ext uri="{FF2B5EF4-FFF2-40B4-BE49-F238E27FC236}">
                <a16:creationId xmlns:a16="http://schemas.microsoft.com/office/drawing/2014/main" id="{493AA8FA-7BE5-930C-1F3B-42F3A5C5AE5F}"/>
              </a:ext>
            </a:extLst>
          </p:cNvPr>
          <p:cNvSpPr>
            <a:spLocks noGrp="1"/>
          </p:cNvSpPr>
          <p:nvPr>
            <p:ph idx="1"/>
          </p:nvPr>
        </p:nvSpPr>
        <p:spPr/>
        <p:txBody>
          <a:bodyPr>
            <a:normAutofit fontScale="85000" lnSpcReduction="10000"/>
          </a:bodyPr>
          <a:lstStyle/>
          <a:p>
            <a:pPr algn="just">
              <a:lnSpc>
                <a:spcPct val="150000"/>
              </a:lnSpc>
            </a:pPr>
            <a:r>
              <a:rPr lang="tr-TR" dirty="0">
                <a:solidFill>
                  <a:srgbClr val="202124"/>
                </a:solidFill>
                <a:latin typeface="Times New Roman" panose="02020603050405020304" pitchFamily="18" charset="0"/>
                <a:cs typeface="Times New Roman" panose="02020603050405020304" pitchFamily="18" charset="0"/>
              </a:rPr>
              <a:t>G</a:t>
            </a:r>
            <a:r>
              <a:rPr lang="tr-TR" b="0" i="0" u="none" strike="noStrike" dirty="0">
                <a:solidFill>
                  <a:srgbClr val="202124"/>
                </a:solidFill>
                <a:effectLst/>
                <a:latin typeface="Times New Roman" panose="02020603050405020304" pitchFamily="18" charset="0"/>
                <a:cs typeface="Times New Roman" panose="02020603050405020304" pitchFamily="18" charset="0"/>
              </a:rPr>
              <a:t>irdi veri setine karşılık çıktı veri seti bulursa yani makine </a:t>
            </a:r>
            <a:r>
              <a:rPr lang="tr-TR" dirty="0">
                <a:solidFill>
                  <a:srgbClr val="202124"/>
                </a:solidFill>
                <a:latin typeface="Times New Roman" panose="02020603050405020304" pitchFamily="18" charset="0"/>
                <a:cs typeface="Times New Roman" panose="02020603050405020304" pitchFamily="18" charset="0"/>
              </a:rPr>
              <a:t>herhangi bir olayı gerçekleştiren etmenlere karşılık sonucunun ne olacağını öğreniyorsa bu durumda bu öğrenme yöntemine denetimli öğrenme denilmektedir.</a:t>
            </a:r>
            <a:endParaRPr lang="tr-TR" b="0" i="0" u="none" strike="noStrike" dirty="0">
              <a:solidFill>
                <a:srgbClr val="202124"/>
              </a:solidFill>
              <a:effectLst/>
              <a:latin typeface="Times New Roman" panose="02020603050405020304" pitchFamily="18" charset="0"/>
              <a:cs typeface="Times New Roman" panose="02020603050405020304" pitchFamily="18" charset="0"/>
            </a:endParaRPr>
          </a:p>
          <a:p>
            <a:pPr algn="just">
              <a:lnSpc>
                <a:spcPct val="150000"/>
              </a:lnSpc>
            </a:pPr>
            <a:r>
              <a:rPr lang="tr-TR" b="0" i="0" u="none" strike="noStrike" dirty="0">
                <a:solidFill>
                  <a:srgbClr val="202124"/>
                </a:solidFill>
                <a:effectLst/>
                <a:latin typeface="Times New Roman" panose="02020603050405020304" pitchFamily="18" charset="0"/>
                <a:cs typeface="Times New Roman" panose="02020603050405020304" pitchFamily="18" charset="0"/>
              </a:rPr>
              <a:t>Gözetimli öğrenme de denilen bu öğrenme yönteminde, makine eğitilirken veri setindeki her bir veri için gerekli olan sonuç bilgisi belirtilmiş olmalıdır.</a:t>
            </a:r>
          </a:p>
          <a:p>
            <a:pPr algn="just">
              <a:lnSpc>
                <a:spcPct val="150000"/>
              </a:lnSpc>
            </a:pPr>
            <a:r>
              <a:rPr lang="tr-TR" b="0" i="0" u="none" strike="noStrike" dirty="0">
                <a:solidFill>
                  <a:srgbClr val="202124"/>
                </a:solidFill>
                <a:effectLst/>
                <a:latin typeface="Times New Roman" panose="02020603050405020304" pitchFamily="18" charset="0"/>
                <a:cs typeface="Times New Roman" panose="02020603050405020304" pitchFamily="18" charset="0"/>
              </a:rPr>
              <a:t>Makine girdi ile çıktı arasında ilişki kurarak öğrenmektedir.</a:t>
            </a:r>
          </a:p>
          <a:p>
            <a:pPr algn="just">
              <a:lnSpc>
                <a:spcPct val="150000"/>
              </a:lnSpc>
            </a:pPr>
            <a:r>
              <a:rPr lang="tr-TR" dirty="0">
                <a:solidFill>
                  <a:srgbClr val="202124"/>
                </a:solidFill>
                <a:latin typeface="Times New Roman" panose="02020603050405020304" pitchFamily="18" charset="0"/>
                <a:cs typeface="Times New Roman" panose="02020603050405020304" pitchFamily="18" charset="0"/>
              </a:rPr>
              <a:t>Yeni gelen bir örneğin sonucunu ise bu öğrenme sürecine göre tahmin etmektedir.</a:t>
            </a:r>
            <a:endParaRPr lang="tr-TR" b="0" i="0" u="none" strike="noStrike" dirty="0">
              <a:solidFill>
                <a:srgbClr val="202124"/>
              </a:solidFill>
              <a:effectLst/>
              <a:latin typeface="Times New Roman" panose="02020603050405020304" pitchFamily="18" charset="0"/>
              <a:cs typeface="Times New Roman" panose="02020603050405020304" pitchFamily="18" charset="0"/>
            </a:endParaRPr>
          </a:p>
          <a:p>
            <a:endParaRPr lang="tr-TR" b="0" i="0" u="none" strike="noStrike" dirty="0">
              <a:solidFill>
                <a:srgbClr val="202124"/>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9508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DF07EA-853C-CD67-0C4B-A390FB49E69B}"/>
              </a:ext>
            </a:extLst>
          </p:cNvPr>
          <p:cNvSpPr>
            <a:spLocks noGrp="1"/>
          </p:cNvSpPr>
          <p:nvPr>
            <p:ph type="title"/>
          </p:nvPr>
        </p:nvSpPr>
        <p:spPr>
          <a:xfrm>
            <a:off x="1097279" y="286603"/>
            <a:ext cx="10597415" cy="1450757"/>
          </a:xfrm>
        </p:spPr>
        <p:txBody>
          <a:bodyPr/>
          <a:lstStyle/>
          <a:p>
            <a:r>
              <a:rPr lang="tr-TR" dirty="0">
                <a:solidFill>
                  <a:srgbClr val="C00000"/>
                </a:solidFill>
                <a:latin typeface="Times New Roman" panose="02020603050405020304" pitchFamily="18" charset="0"/>
                <a:cs typeface="Times New Roman" panose="02020603050405020304" pitchFamily="18" charset="0"/>
              </a:rPr>
              <a:t>Denetimli Öğrenmede Kullanılan Teknikler</a:t>
            </a:r>
          </a:p>
        </p:txBody>
      </p:sp>
      <p:sp>
        <p:nvSpPr>
          <p:cNvPr id="3" name="İçerik Yer Tutucusu 2">
            <a:extLst>
              <a:ext uri="{FF2B5EF4-FFF2-40B4-BE49-F238E27FC236}">
                <a16:creationId xmlns:a16="http://schemas.microsoft.com/office/drawing/2014/main" id="{0C92DE55-E52D-F519-CA4A-37A91BADE77B}"/>
              </a:ext>
            </a:extLst>
          </p:cNvPr>
          <p:cNvSpPr>
            <a:spLocks noGrp="1"/>
          </p:cNvSpPr>
          <p:nvPr>
            <p:ph idx="1"/>
          </p:nvPr>
        </p:nvSpPr>
        <p:spPr>
          <a:xfrm>
            <a:off x="838200" y="1825625"/>
            <a:ext cx="3787876" cy="1603375"/>
          </a:xfrm>
        </p:spPr>
        <p:txBody>
          <a:bodyPr>
            <a:normAutofit/>
          </a:bodyPr>
          <a:lstStyle/>
          <a:p>
            <a:pPr lvl="1">
              <a:lnSpc>
                <a:spcPct val="150000"/>
              </a:lnSpc>
            </a:pPr>
            <a:endParaRPr lang="tr-TR" sz="2000" dirty="0">
              <a:latin typeface="Times New Roman" panose="02020603050405020304" pitchFamily="18" charset="0"/>
              <a:cs typeface="Times New Roman" panose="02020603050405020304" pitchFamily="18" charset="0"/>
            </a:endParaRPr>
          </a:p>
          <a:p>
            <a:pPr lvl="1">
              <a:lnSpc>
                <a:spcPct val="150000"/>
              </a:lnSpc>
            </a:pPr>
            <a:r>
              <a:rPr lang="tr-TR" sz="2000" dirty="0">
                <a:latin typeface="Times New Roman" panose="02020603050405020304" pitchFamily="18" charset="0"/>
                <a:cs typeface="Times New Roman" panose="02020603050405020304" pitchFamily="18" charset="0"/>
              </a:rPr>
              <a:t>Sınıflandırma Algoritmaları</a:t>
            </a:r>
          </a:p>
          <a:p>
            <a:pPr lvl="1">
              <a:lnSpc>
                <a:spcPct val="150000"/>
              </a:lnSpc>
            </a:pPr>
            <a:r>
              <a:rPr lang="tr-TR" sz="2000" dirty="0">
                <a:latin typeface="Times New Roman" panose="02020603050405020304" pitchFamily="18" charset="0"/>
                <a:cs typeface="Times New Roman" panose="02020603050405020304" pitchFamily="18" charset="0"/>
              </a:rPr>
              <a:t>Regresyon Algoritmaları</a:t>
            </a:r>
          </a:p>
        </p:txBody>
      </p:sp>
      <p:pic>
        <p:nvPicPr>
          <p:cNvPr id="4" name="Resim 3">
            <a:extLst>
              <a:ext uri="{FF2B5EF4-FFF2-40B4-BE49-F238E27FC236}">
                <a16:creationId xmlns:a16="http://schemas.microsoft.com/office/drawing/2014/main" id="{13D6A320-4F03-EC88-4FBF-A0CF6146AD64}"/>
              </a:ext>
            </a:extLst>
          </p:cNvPr>
          <p:cNvPicPr>
            <a:picLocks noChangeAspect="1"/>
          </p:cNvPicPr>
          <p:nvPr/>
        </p:nvPicPr>
        <p:blipFill>
          <a:blip r:embed="rId2"/>
          <a:stretch>
            <a:fillRect/>
          </a:stretch>
        </p:blipFill>
        <p:spPr>
          <a:xfrm>
            <a:off x="6621957" y="2306181"/>
            <a:ext cx="4201896" cy="1829858"/>
          </a:xfrm>
          <a:prstGeom prst="rect">
            <a:avLst/>
          </a:prstGeom>
        </p:spPr>
      </p:pic>
      <p:sp>
        <p:nvSpPr>
          <p:cNvPr id="5" name="Metin kutusu 4">
            <a:extLst>
              <a:ext uri="{FF2B5EF4-FFF2-40B4-BE49-F238E27FC236}">
                <a16:creationId xmlns:a16="http://schemas.microsoft.com/office/drawing/2014/main" id="{CC9CB3A1-8C16-6789-2C83-DD8551F0EA28}"/>
              </a:ext>
            </a:extLst>
          </p:cNvPr>
          <p:cNvSpPr txBox="1"/>
          <p:nvPr/>
        </p:nvSpPr>
        <p:spPr>
          <a:xfrm>
            <a:off x="8722905" y="1936849"/>
            <a:ext cx="1588168" cy="369332"/>
          </a:xfrm>
          <a:prstGeom prst="rect">
            <a:avLst/>
          </a:prstGeom>
          <a:noFill/>
        </p:spPr>
        <p:txBody>
          <a:bodyPr wrap="square" rtlCol="0">
            <a:spAutoFit/>
          </a:bodyPr>
          <a:lstStyle/>
          <a:p>
            <a:r>
              <a:rPr lang="tr-TR" dirty="0">
                <a:latin typeface="Times New Roman" panose="02020603050405020304" pitchFamily="18" charset="0"/>
                <a:cs typeface="Times New Roman" panose="02020603050405020304" pitchFamily="18" charset="0"/>
              </a:rPr>
              <a:t>Regresyon</a:t>
            </a:r>
          </a:p>
        </p:txBody>
      </p:sp>
      <p:sp>
        <p:nvSpPr>
          <p:cNvPr id="6" name="Metin kutusu 5">
            <a:extLst>
              <a:ext uri="{FF2B5EF4-FFF2-40B4-BE49-F238E27FC236}">
                <a16:creationId xmlns:a16="http://schemas.microsoft.com/office/drawing/2014/main" id="{6DC2020E-8678-7AF9-45C1-9A5D54F4CA43}"/>
              </a:ext>
            </a:extLst>
          </p:cNvPr>
          <p:cNvSpPr txBox="1"/>
          <p:nvPr/>
        </p:nvSpPr>
        <p:spPr>
          <a:xfrm>
            <a:off x="6771842" y="1936849"/>
            <a:ext cx="1588168" cy="369332"/>
          </a:xfrm>
          <a:prstGeom prst="rect">
            <a:avLst/>
          </a:prstGeom>
          <a:noFill/>
        </p:spPr>
        <p:txBody>
          <a:bodyPr wrap="square" rtlCol="0">
            <a:spAutoFit/>
          </a:bodyPr>
          <a:lstStyle/>
          <a:p>
            <a:r>
              <a:rPr lang="tr-TR" dirty="0">
                <a:latin typeface="Times New Roman" panose="02020603050405020304" pitchFamily="18" charset="0"/>
                <a:cs typeface="Times New Roman" panose="02020603050405020304" pitchFamily="18" charset="0"/>
              </a:rPr>
              <a:t>Sınıflandırma</a:t>
            </a:r>
          </a:p>
        </p:txBody>
      </p:sp>
      <p:graphicFrame>
        <p:nvGraphicFramePr>
          <p:cNvPr id="7" name="Tablo 6">
            <a:extLst>
              <a:ext uri="{FF2B5EF4-FFF2-40B4-BE49-F238E27FC236}">
                <a16:creationId xmlns:a16="http://schemas.microsoft.com/office/drawing/2014/main" id="{458053A2-A30D-3B72-ED64-793A8815B0AE}"/>
              </a:ext>
            </a:extLst>
          </p:cNvPr>
          <p:cNvGraphicFramePr>
            <a:graphicFrameLocks noGrp="1"/>
          </p:cNvGraphicFramePr>
          <p:nvPr>
            <p:extLst>
              <p:ext uri="{D42A27DB-BD31-4B8C-83A1-F6EECF244321}">
                <p14:modId xmlns:p14="http://schemas.microsoft.com/office/powerpoint/2010/main" val="1367203099"/>
              </p:ext>
            </p:extLst>
          </p:nvPr>
        </p:nvGraphicFramePr>
        <p:xfrm>
          <a:off x="7349246" y="4894997"/>
          <a:ext cx="4735664" cy="1676400"/>
        </p:xfrm>
        <a:graphic>
          <a:graphicData uri="http://schemas.openxmlformats.org/drawingml/2006/table">
            <a:tbl>
              <a:tblPr>
                <a:tableStyleId>{5940675A-B579-460E-94D1-54222C63F5DA}</a:tableStyleId>
              </a:tblPr>
              <a:tblGrid>
                <a:gridCol w="1183916">
                  <a:extLst>
                    <a:ext uri="{9D8B030D-6E8A-4147-A177-3AD203B41FA5}">
                      <a16:colId xmlns:a16="http://schemas.microsoft.com/office/drawing/2014/main" val="2110552121"/>
                    </a:ext>
                  </a:extLst>
                </a:gridCol>
                <a:gridCol w="1183916">
                  <a:extLst>
                    <a:ext uri="{9D8B030D-6E8A-4147-A177-3AD203B41FA5}">
                      <a16:colId xmlns:a16="http://schemas.microsoft.com/office/drawing/2014/main" val="2979597024"/>
                    </a:ext>
                  </a:extLst>
                </a:gridCol>
                <a:gridCol w="1183916">
                  <a:extLst>
                    <a:ext uri="{9D8B030D-6E8A-4147-A177-3AD203B41FA5}">
                      <a16:colId xmlns:a16="http://schemas.microsoft.com/office/drawing/2014/main" val="1763417834"/>
                    </a:ext>
                  </a:extLst>
                </a:gridCol>
                <a:gridCol w="1183916">
                  <a:extLst>
                    <a:ext uri="{9D8B030D-6E8A-4147-A177-3AD203B41FA5}">
                      <a16:colId xmlns:a16="http://schemas.microsoft.com/office/drawing/2014/main" val="3545572226"/>
                    </a:ext>
                  </a:extLst>
                </a:gridCol>
              </a:tblGrid>
              <a:tr h="313131">
                <a:tc>
                  <a:txBody>
                    <a:bodyPr/>
                    <a:lstStyle/>
                    <a:p>
                      <a:pPr>
                        <a:buNone/>
                      </a:pPr>
                      <a:r>
                        <a:rPr lang="tr-TR" sz="1600"/>
                        <a:t>Metrekare</a:t>
                      </a:r>
                    </a:p>
                  </a:txBody>
                  <a:tcPr anchor="ctr"/>
                </a:tc>
                <a:tc>
                  <a:txBody>
                    <a:bodyPr/>
                    <a:lstStyle/>
                    <a:p>
                      <a:pPr>
                        <a:buNone/>
                      </a:pPr>
                      <a:r>
                        <a:rPr lang="tr-TR" sz="1600"/>
                        <a:t>Oda Sayısı</a:t>
                      </a:r>
                    </a:p>
                  </a:txBody>
                  <a:tcPr anchor="ctr"/>
                </a:tc>
                <a:tc>
                  <a:txBody>
                    <a:bodyPr/>
                    <a:lstStyle/>
                    <a:p>
                      <a:pPr>
                        <a:buNone/>
                      </a:pPr>
                      <a:r>
                        <a:rPr lang="tr-TR" sz="1600"/>
                        <a:t>Bina Yaşı</a:t>
                      </a:r>
                    </a:p>
                  </a:txBody>
                  <a:tcPr anchor="ctr"/>
                </a:tc>
                <a:tc>
                  <a:txBody>
                    <a:bodyPr/>
                    <a:lstStyle/>
                    <a:p>
                      <a:pPr>
                        <a:buNone/>
                      </a:pPr>
                      <a:r>
                        <a:rPr lang="tr-TR" sz="1600"/>
                        <a:t>Fiyat (₺)</a:t>
                      </a:r>
                    </a:p>
                  </a:txBody>
                  <a:tcPr anchor="ctr"/>
                </a:tc>
                <a:extLst>
                  <a:ext uri="{0D108BD9-81ED-4DB2-BD59-A6C34878D82A}">
                    <a16:rowId xmlns:a16="http://schemas.microsoft.com/office/drawing/2014/main" val="632236020"/>
                  </a:ext>
                </a:extLst>
              </a:tr>
              <a:tr h="237776">
                <a:tc>
                  <a:txBody>
                    <a:bodyPr/>
                    <a:lstStyle/>
                    <a:p>
                      <a:pPr>
                        <a:buNone/>
                      </a:pPr>
                      <a:r>
                        <a:rPr lang="tr-TR" sz="1600" dirty="0"/>
                        <a:t>80</a:t>
                      </a:r>
                    </a:p>
                  </a:txBody>
                  <a:tcPr anchor="ctr"/>
                </a:tc>
                <a:tc>
                  <a:txBody>
                    <a:bodyPr/>
                    <a:lstStyle/>
                    <a:p>
                      <a:pPr>
                        <a:buNone/>
                      </a:pPr>
                      <a:r>
                        <a:rPr lang="tr-TR" sz="1600"/>
                        <a:t>2</a:t>
                      </a:r>
                    </a:p>
                  </a:txBody>
                  <a:tcPr anchor="ctr"/>
                </a:tc>
                <a:tc>
                  <a:txBody>
                    <a:bodyPr/>
                    <a:lstStyle/>
                    <a:p>
                      <a:pPr>
                        <a:buNone/>
                      </a:pPr>
                      <a:r>
                        <a:rPr lang="tr-TR" sz="1600"/>
                        <a:t>10</a:t>
                      </a:r>
                    </a:p>
                  </a:txBody>
                  <a:tcPr anchor="ctr"/>
                </a:tc>
                <a:tc>
                  <a:txBody>
                    <a:bodyPr/>
                    <a:lstStyle/>
                    <a:p>
                      <a:pPr>
                        <a:buNone/>
                      </a:pPr>
                      <a:r>
                        <a:rPr lang="tr-TR" sz="1600"/>
                        <a:t>2.000.000</a:t>
                      </a:r>
                    </a:p>
                  </a:txBody>
                  <a:tcPr anchor="ctr"/>
                </a:tc>
                <a:extLst>
                  <a:ext uri="{0D108BD9-81ED-4DB2-BD59-A6C34878D82A}">
                    <a16:rowId xmlns:a16="http://schemas.microsoft.com/office/drawing/2014/main" val="3484153946"/>
                  </a:ext>
                </a:extLst>
              </a:tr>
              <a:tr h="237776">
                <a:tc>
                  <a:txBody>
                    <a:bodyPr/>
                    <a:lstStyle/>
                    <a:p>
                      <a:pPr>
                        <a:buNone/>
                      </a:pPr>
                      <a:r>
                        <a:rPr lang="tr-TR" sz="1600"/>
                        <a:t>100</a:t>
                      </a:r>
                    </a:p>
                  </a:txBody>
                  <a:tcPr anchor="ctr"/>
                </a:tc>
                <a:tc>
                  <a:txBody>
                    <a:bodyPr/>
                    <a:lstStyle/>
                    <a:p>
                      <a:pPr>
                        <a:buNone/>
                      </a:pPr>
                      <a:r>
                        <a:rPr lang="tr-TR" sz="1600"/>
                        <a:t>3</a:t>
                      </a:r>
                    </a:p>
                  </a:txBody>
                  <a:tcPr anchor="ctr"/>
                </a:tc>
                <a:tc>
                  <a:txBody>
                    <a:bodyPr/>
                    <a:lstStyle/>
                    <a:p>
                      <a:pPr>
                        <a:buNone/>
                      </a:pPr>
                      <a:r>
                        <a:rPr lang="tr-TR" sz="1600"/>
                        <a:t>5</a:t>
                      </a:r>
                    </a:p>
                  </a:txBody>
                  <a:tcPr anchor="ctr"/>
                </a:tc>
                <a:tc>
                  <a:txBody>
                    <a:bodyPr/>
                    <a:lstStyle/>
                    <a:p>
                      <a:pPr>
                        <a:buNone/>
                      </a:pPr>
                      <a:r>
                        <a:rPr lang="tr-TR" sz="1600"/>
                        <a:t>2.800.000</a:t>
                      </a:r>
                    </a:p>
                  </a:txBody>
                  <a:tcPr anchor="ctr"/>
                </a:tc>
                <a:extLst>
                  <a:ext uri="{0D108BD9-81ED-4DB2-BD59-A6C34878D82A}">
                    <a16:rowId xmlns:a16="http://schemas.microsoft.com/office/drawing/2014/main" val="388476389"/>
                  </a:ext>
                </a:extLst>
              </a:tr>
              <a:tr h="237776">
                <a:tc>
                  <a:txBody>
                    <a:bodyPr/>
                    <a:lstStyle/>
                    <a:p>
                      <a:pPr>
                        <a:buNone/>
                      </a:pPr>
                      <a:r>
                        <a:rPr lang="tr-TR" sz="1600"/>
                        <a:t>120</a:t>
                      </a:r>
                    </a:p>
                  </a:txBody>
                  <a:tcPr anchor="ctr"/>
                </a:tc>
                <a:tc>
                  <a:txBody>
                    <a:bodyPr/>
                    <a:lstStyle/>
                    <a:p>
                      <a:pPr>
                        <a:buNone/>
                      </a:pPr>
                      <a:r>
                        <a:rPr lang="tr-TR" sz="1600"/>
                        <a:t>3</a:t>
                      </a:r>
                    </a:p>
                  </a:txBody>
                  <a:tcPr anchor="ctr"/>
                </a:tc>
                <a:tc>
                  <a:txBody>
                    <a:bodyPr/>
                    <a:lstStyle/>
                    <a:p>
                      <a:pPr>
                        <a:buNone/>
                      </a:pPr>
                      <a:r>
                        <a:rPr lang="tr-TR" sz="1600"/>
                        <a:t>2</a:t>
                      </a:r>
                    </a:p>
                  </a:txBody>
                  <a:tcPr anchor="ctr"/>
                </a:tc>
                <a:tc>
                  <a:txBody>
                    <a:bodyPr/>
                    <a:lstStyle/>
                    <a:p>
                      <a:pPr>
                        <a:buNone/>
                      </a:pPr>
                      <a:r>
                        <a:rPr lang="tr-TR" sz="1600"/>
                        <a:t>3.500.000</a:t>
                      </a:r>
                    </a:p>
                  </a:txBody>
                  <a:tcPr anchor="ctr"/>
                </a:tc>
                <a:extLst>
                  <a:ext uri="{0D108BD9-81ED-4DB2-BD59-A6C34878D82A}">
                    <a16:rowId xmlns:a16="http://schemas.microsoft.com/office/drawing/2014/main" val="1800292530"/>
                  </a:ext>
                </a:extLst>
              </a:tr>
              <a:tr h="237776">
                <a:tc>
                  <a:txBody>
                    <a:bodyPr/>
                    <a:lstStyle/>
                    <a:p>
                      <a:pPr>
                        <a:buNone/>
                      </a:pPr>
                      <a:r>
                        <a:rPr lang="tr-TR" sz="1600"/>
                        <a:t>90</a:t>
                      </a:r>
                    </a:p>
                  </a:txBody>
                  <a:tcPr anchor="ctr"/>
                </a:tc>
                <a:tc>
                  <a:txBody>
                    <a:bodyPr/>
                    <a:lstStyle/>
                    <a:p>
                      <a:pPr>
                        <a:buNone/>
                      </a:pPr>
                      <a:r>
                        <a:rPr lang="tr-TR" sz="1600"/>
                        <a:t>2</a:t>
                      </a:r>
                    </a:p>
                  </a:txBody>
                  <a:tcPr anchor="ctr"/>
                </a:tc>
                <a:tc>
                  <a:txBody>
                    <a:bodyPr/>
                    <a:lstStyle/>
                    <a:p>
                      <a:pPr>
                        <a:buNone/>
                      </a:pPr>
                      <a:r>
                        <a:rPr lang="tr-TR" sz="1600"/>
                        <a:t>15</a:t>
                      </a:r>
                    </a:p>
                  </a:txBody>
                  <a:tcPr anchor="ctr"/>
                </a:tc>
                <a:tc>
                  <a:txBody>
                    <a:bodyPr/>
                    <a:lstStyle/>
                    <a:p>
                      <a:pPr>
                        <a:buNone/>
                      </a:pPr>
                      <a:r>
                        <a:rPr lang="tr-TR" sz="1600" dirty="0"/>
                        <a:t>1.900.000</a:t>
                      </a:r>
                    </a:p>
                  </a:txBody>
                  <a:tcPr anchor="ctr"/>
                </a:tc>
                <a:extLst>
                  <a:ext uri="{0D108BD9-81ED-4DB2-BD59-A6C34878D82A}">
                    <a16:rowId xmlns:a16="http://schemas.microsoft.com/office/drawing/2014/main" val="2619227141"/>
                  </a:ext>
                </a:extLst>
              </a:tr>
            </a:tbl>
          </a:graphicData>
        </a:graphic>
      </p:graphicFrame>
      <p:sp>
        <p:nvSpPr>
          <p:cNvPr id="8" name="Sol Ok 7">
            <a:extLst>
              <a:ext uri="{FF2B5EF4-FFF2-40B4-BE49-F238E27FC236}">
                <a16:creationId xmlns:a16="http://schemas.microsoft.com/office/drawing/2014/main" id="{85F3341A-FEA6-C890-E460-00752605BA5E}"/>
              </a:ext>
            </a:extLst>
          </p:cNvPr>
          <p:cNvSpPr/>
          <p:nvPr/>
        </p:nvSpPr>
        <p:spPr>
          <a:xfrm rot="19258687">
            <a:off x="5905735" y="4341281"/>
            <a:ext cx="729050" cy="217576"/>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Sol Ok 8">
            <a:extLst>
              <a:ext uri="{FF2B5EF4-FFF2-40B4-BE49-F238E27FC236}">
                <a16:creationId xmlns:a16="http://schemas.microsoft.com/office/drawing/2014/main" id="{7E39558A-644A-266C-890F-A55E1128902F}"/>
              </a:ext>
            </a:extLst>
          </p:cNvPr>
          <p:cNvSpPr/>
          <p:nvPr/>
        </p:nvSpPr>
        <p:spPr>
          <a:xfrm rot="13739696">
            <a:off x="9808264" y="4373719"/>
            <a:ext cx="729050" cy="217576"/>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graphicFrame>
        <p:nvGraphicFramePr>
          <p:cNvPr id="10" name="Tablo 9">
            <a:extLst>
              <a:ext uri="{FF2B5EF4-FFF2-40B4-BE49-F238E27FC236}">
                <a16:creationId xmlns:a16="http://schemas.microsoft.com/office/drawing/2014/main" id="{6B964836-5E9A-CD99-AB24-66489B87881F}"/>
              </a:ext>
            </a:extLst>
          </p:cNvPr>
          <p:cNvGraphicFramePr>
            <a:graphicFrameLocks noGrp="1"/>
          </p:cNvGraphicFramePr>
          <p:nvPr>
            <p:extLst>
              <p:ext uri="{D42A27DB-BD31-4B8C-83A1-F6EECF244321}">
                <p14:modId xmlns:p14="http://schemas.microsoft.com/office/powerpoint/2010/main" val="1123424638"/>
              </p:ext>
            </p:extLst>
          </p:nvPr>
        </p:nvGraphicFramePr>
        <p:xfrm>
          <a:off x="838198" y="4894997"/>
          <a:ext cx="5933644" cy="1524000"/>
        </p:xfrm>
        <a:graphic>
          <a:graphicData uri="http://schemas.openxmlformats.org/drawingml/2006/table">
            <a:tbl>
              <a:tblPr>
                <a:tableStyleId>{5940675A-B579-460E-94D1-54222C63F5DA}</a:tableStyleId>
              </a:tblPr>
              <a:tblGrid>
                <a:gridCol w="1089458">
                  <a:extLst>
                    <a:ext uri="{9D8B030D-6E8A-4147-A177-3AD203B41FA5}">
                      <a16:colId xmlns:a16="http://schemas.microsoft.com/office/drawing/2014/main" val="3544866254"/>
                    </a:ext>
                  </a:extLst>
                </a:gridCol>
                <a:gridCol w="1877364">
                  <a:extLst>
                    <a:ext uri="{9D8B030D-6E8A-4147-A177-3AD203B41FA5}">
                      <a16:colId xmlns:a16="http://schemas.microsoft.com/office/drawing/2014/main" val="1116490122"/>
                    </a:ext>
                  </a:extLst>
                </a:gridCol>
                <a:gridCol w="1866733">
                  <a:extLst>
                    <a:ext uri="{9D8B030D-6E8A-4147-A177-3AD203B41FA5}">
                      <a16:colId xmlns:a16="http://schemas.microsoft.com/office/drawing/2014/main" val="334853148"/>
                    </a:ext>
                  </a:extLst>
                </a:gridCol>
                <a:gridCol w="1100089">
                  <a:extLst>
                    <a:ext uri="{9D8B030D-6E8A-4147-A177-3AD203B41FA5}">
                      <a16:colId xmlns:a16="http://schemas.microsoft.com/office/drawing/2014/main" val="588705022"/>
                    </a:ext>
                  </a:extLst>
                </a:gridCol>
              </a:tblGrid>
              <a:tr h="297439">
                <a:tc>
                  <a:txBody>
                    <a:bodyPr/>
                    <a:lstStyle/>
                    <a:p>
                      <a:pPr>
                        <a:buNone/>
                      </a:pPr>
                      <a:r>
                        <a:rPr lang="tr-TR" sz="1400"/>
                        <a:t>Link Sayısı</a:t>
                      </a:r>
                    </a:p>
                  </a:txBody>
                  <a:tcPr anchor="ctr"/>
                </a:tc>
                <a:tc>
                  <a:txBody>
                    <a:bodyPr/>
                    <a:lstStyle/>
                    <a:p>
                      <a:pPr>
                        <a:buNone/>
                      </a:pPr>
                      <a:r>
                        <a:rPr lang="tr-TR" sz="1400"/>
                        <a:t>“Ücretsiz” Kelimesi</a:t>
                      </a:r>
                    </a:p>
                  </a:txBody>
                  <a:tcPr anchor="ctr"/>
                </a:tc>
                <a:tc>
                  <a:txBody>
                    <a:bodyPr/>
                    <a:lstStyle/>
                    <a:p>
                      <a:pPr>
                        <a:buNone/>
                      </a:pPr>
                      <a:r>
                        <a:rPr lang="tr-TR" sz="1400" dirty="0"/>
                        <a:t>Büyük Harf Oranı (%)</a:t>
                      </a:r>
                    </a:p>
                  </a:txBody>
                  <a:tcPr anchor="ctr"/>
                </a:tc>
                <a:tc>
                  <a:txBody>
                    <a:bodyPr/>
                    <a:lstStyle/>
                    <a:p>
                      <a:pPr>
                        <a:buNone/>
                      </a:pPr>
                      <a:r>
                        <a:rPr lang="tr-TR" sz="1400" dirty="0"/>
                        <a:t>Etiket</a:t>
                      </a:r>
                    </a:p>
                  </a:txBody>
                  <a:tcPr anchor="ctr"/>
                </a:tc>
                <a:extLst>
                  <a:ext uri="{0D108BD9-81ED-4DB2-BD59-A6C34878D82A}">
                    <a16:rowId xmlns:a16="http://schemas.microsoft.com/office/drawing/2014/main" val="1442113851"/>
                  </a:ext>
                </a:extLst>
              </a:tr>
              <a:tr h="181326">
                <a:tc>
                  <a:txBody>
                    <a:bodyPr/>
                    <a:lstStyle/>
                    <a:p>
                      <a:pPr>
                        <a:buNone/>
                      </a:pPr>
                      <a:r>
                        <a:rPr lang="tr-TR" sz="1400"/>
                        <a:t>0</a:t>
                      </a:r>
                    </a:p>
                  </a:txBody>
                  <a:tcPr anchor="ctr"/>
                </a:tc>
                <a:tc>
                  <a:txBody>
                    <a:bodyPr/>
                    <a:lstStyle/>
                    <a:p>
                      <a:pPr>
                        <a:buNone/>
                      </a:pPr>
                      <a:r>
                        <a:rPr lang="tr-TR" sz="1400"/>
                        <a:t>Hayır</a:t>
                      </a:r>
                    </a:p>
                  </a:txBody>
                  <a:tcPr anchor="ctr"/>
                </a:tc>
                <a:tc>
                  <a:txBody>
                    <a:bodyPr/>
                    <a:lstStyle/>
                    <a:p>
                      <a:pPr>
                        <a:buNone/>
                      </a:pPr>
                      <a:r>
                        <a:rPr lang="tr-TR" sz="1400"/>
                        <a:t>5</a:t>
                      </a:r>
                    </a:p>
                  </a:txBody>
                  <a:tcPr anchor="ctr"/>
                </a:tc>
                <a:tc>
                  <a:txBody>
                    <a:bodyPr/>
                    <a:lstStyle/>
                    <a:p>
                      <a:pPr>
                        <a:buNone/>
                      </a:pPr>
                      <a:r>
                        <a:rPr lang="tr-TR" sz="1400"/>
                        <a:t>Spam Değil</a:t>
                      </a:r>
                    </a:p>
                  </a:txBody>
                  <a:tcPr anchor="ctr"/>
                </a:tc>
                <a:extLst>
                  <a:ext uri="{0D108BD9-81ED-4DB2-BD59-A6C34878D82A}">
                    <a16:rowId xmlns:a16="http://schemas.microsoft.com/office/drawing/2014/main" val="422049645"/>
                  </a:ext>
                </a:extLst>
              </a:tr>
              <a:tr h="181326">
                <a:tc>
                  <a:txBody>
                    <a:bodyPr/>
                    <a:lstStyle/>
                    <a:p>
                      <a:pPr>
                        <a:buNone/>
                      </a:pPr>
                      <a:r>
                        <a:rPr lang="tr-TR" sz="1400"/>
                        <a:t>3</a:t>
                      </a:r>
                    </a:p>
                  </a:txBody>
                  <a:tcPr anchor="ctr"/>
                </a:tc>
                <a:tc>
                  <a:txBody>
                    <a:bodyPr/>
                    <a:lstStyle/>
                    <a:p>
                      <a:pPr>
                        <a:buNone/>
                      </a:pPr>
                      <a:r>
                        <a:rPr lang="tr-TR" sz="1400"/>
                        <a:t>Evet</a:t>
                      </a:r>
                    </a:p>
                  </a:txBody>
                  <a:tcPr anchor="ctr"/>
                </a:tc>
                <a:tc>
                  <a:txBody>
                    <a:bodyPr/>
                    <a:lstStyle/>
                    <a:p>
                      <a:pPr>
                        <a:buNone/>
                      </a:pPr>
                      <a:r>
                        <a:rPr lang="tr-TR" sz="1400"/>
                        <a:t>40</a:t>
                      </a:r>
                    </a:p>
                  </a:txBody>
                  <a:tcPr anchor="ctr"/>
                </a:tc>
                <a:tc>
                  <a:txBody>
                    <a:bodyPr/>
                    <a:lstStyle/>
                    <a:p>
                      <a:pPr>
                        <a:buNone/>
                      </a:pPr>
                      <a:r>
                        <a:rPr lang="tr-TR" sz="1400" dirty="0"/>
                        <a:t>Spam</a:t>
                      </a:r>
                    </a:p>
                  </a:txBody>
                  <a:tcPr anchor="ctr"/>
                </a:tc>
                <a:extLst>
                  <a:ext uri="{0D108BD9-81ED-4DB2-BD59-A6C34878D82A}">
                    <a16:rowId xmlns:a16="http://schemas.microsoft.com/office/drawing/2014/main" val="1755467651"/>
                  </a:ext>
                </a:extLst>
              </a:tr>
              <a:tr h="181326">
                <a:tc>
                  <a:txBody>
                    <a:bodyPr/>
                    <a:lstStyle/>
                    <a:p>
                      <a:pPr>
                        <a:buNone/>
                      </a:pPr>
                      <a:r>
                        <a:rPr lang="tr-TR" sz="1400"/>
                        <a:t>1</a:t>
                      </a:r>
                    </a:p>
                  </a:txBody>
                  <a:tcPr anchor="ctr"/>
                </a:tc>
                <a:tc>
                  <a:txBody>
                    <a:bodyPr/>
                    <a:lstStyle/>
                    <a:p>
                      <a:pPr>
                        <a:buNone/>
                      </a:pPr>
                      <a:r>
                        <a:rPr lang="tr-TR" sz="1400"/>
                        <a:t>Hayır</a:t>
                      </a:r>
                    </a:p>
                  </a:txBody>
                  <a:tcPr anchor="ctr"/>
                </a:tc>
                <a:tc>
                  <a:txBody>
                    <a:bodyPr/>
                    <a:lstStyle/>
                    <a:p>
                      <a:pPr>
                        <a:buNone/>
                      </a:pPr>
                      <a:r>
                        <a:rPr lang="tr-TR" sz="1400"/>
                        <a:t>15</a:t>
                      </a:r>
                    </a:p>
                  </a:txBody>
                  <a:tcPr anchor="ctr"/>
                </a:tc>
                <a:tc>
                  <a:txBody>
                    <a:bodyPr/>
                    <a:lstStyle/>
                    <a:p>
                      <a:pPr>
                        <a:buNone/>
                      </a:pPr>
                      <a:r>
                        <a:rPr lang="tr-TR" sz="1400"/>
                        <a:t>Spam Değil</a:t>
                      </a:r>
                    </a:p>
                  </a:txBody>
                  <a:tcPr anchor="ctr"/>
                </a:tc>
                <a:extLst>
                  <a:ext uri="{0D108BD9-81ED-4DB2-BD59-A6C34878D82A}">
                    <a16:rowId xmlns:a16="http://schemas.microsoft.com/office/drawing/2014/main" val="2048627028"/>
                  </a:ext>
                </a:extLst>
              </a:tr>
              <a:tr h="181326">
                <a:tc>
                  <a:txBody>
                    <a:bodyPr/>
                    <a:lstStyle/>
                    <a:p>
                      <a:pPr>
                        <a:buNone/>
                      </a:pPr>
                      <a:r>
                        <a:rPr lang="tr-TR" sz="1400"/>
                        <a:t>5</a:t>
                      </a:r>
                    </a:p>
                  </a:txBody>
                  <a:tcPr anchor="ctr"/>
                </a:tc>
                <a:tc>
                  <a:txBody>
                    <a:bodyPr/>
                    <a:lstStyle/>
                    <a:p>
                      <a:pPr>
                        <a:buNone/>
                      </a:pPr>
                      <a:r>
                        <a:rPr lang="tr-TR" sz="1400"/>
                        <a:t>Evet</a:t>
                      </a:r>
                    </a:p>
                  </a:txBody>
                  <a:tcPr anchor="ctr"/>
                </a:tc>
                <a:tc>
                  <a:txBody>
                    <a:bodyPr/>
                    <a:lstStyle/>
                    <a:p>
                      <a:pPr>
                        <a:buNone/>
                      </a:pPr>
                      <a:r>
                        <a:rPr lang="tr-TR" sz="1400"/>
                        <a:t>70</a:t>
                      </a:r>
                    </a:p>
                  </a:txBody>
                  <a:tcPr anchor="ctr"/>
                </a:tc>
                <a:tc>
                  <a:txBody>
                    <a:bodyPr/>
                    <a:lstStyle/>
                    <a:p>
                      <a:pPr>
                        <a:buNone/>
                      </a:pPr>
                      <a:r>
                        <a:rPr lang="tr-TR" sz="1400" dirty="0"/>
                        <a:t>Spam</a:t>
                      </a:r>
                    </a:p>
                  </a:txBody>
                  <a:tcPr anchor="ctr"/>
                </a:tc>
                <a:extLst>
                  <a:ext uri="{0D108BD9-81ED-4DB2-BD59-A6C34878D82A}">
                    <a16:rowId xmlns:a16="http://schemas.microsoft.com/office/drawing/2014/main" val="3800932590"/>
                  </a:ext>
                </a:extLst>
              </a:tr>
            </a:tbl>
          </a:graphicData>
        </a:graphic>
      </p:graphicFrame>
    </p:spTree>
    <p:extLst>
      <p:ext uri="{BB962C8B-B14F-4D97-AF65-F5344CB8AC3E}">
        <p14:creationId xmlns:p14="http://schemas.microsoft.com/office/powerpoint/2010/main" val="2750567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E29C894-35C2-D8D7-B265-E05637E42A9D}"/>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Denetimli Öğrenme Örneği</a:t>
            </a:r>
          </a:p>
        </p:txBody>
      </p:sp>
      <p:sp>
        <p:nvSpPr>
          <p:cNvPr id="3" name="İçerik Yer Tutucusu 2">
            <a:extLst>
              <a:ext uri="{FF2B5EF4-FFF2-40B4-BE49-F238E27FC236}">
                <a16:creationId xmlns:a16="http://schemas.microsoft.com/office/drawing/2014/main" id="{3A960C77-839C-A2B9-19FE-4B9A03CBC7DE}"/>
              </a:ext>
            </a:extLst>
          </p:cNvPr>
          <p:cNvSpPr>
            <a:spLocks noGrp="1"/>
          </p:cNvSpPr>
          <p:nvPr>
            <p:ph idx="1"/>
          </p:nvPr>
        </p:nvSpPr>
        <p:spPr/>
        <p:txBody>
          <a:bodyPr>
            <a:normAutofit fontScale="70000" lnSpcReduction="20000"/>
          </a:bodyPr>
          <a:lstStyle/>
          <a:p>
            <a:pPr algn="just">
              <a:lnSpc>
                <a:spcPct val="150000"/>
              </a:lnSpc>
            </a:pPr>
            <a:r>
              <a:rPr lang="tr-TR" dirty="0">
                <a:solidFill>
                  <a:schemeClr val="accent2"/>
                </a:solidFill>
                <a:latin typeface="Times New Roman" panose="02020603050405020304" pitchFamily="18" charset="0"/>
                <a:cs typeface="Times New Roman" panose="02020603050405020304" pitchFamily="18" charset="0"/>
              </a:rPr>
              <a:t>Bir öğrencinin ders başarı puanının tahmin edilmesi. </a:t>
            </a:r>
          </a:p>
          <a:p>
            <a:pPr algn="just">
              <a:lnSpc>
                <a:spcPct val="150000"/>
              </a:lnSpc>
            </a:pPr>
            <a:r>
              <a:rPr lang="tr-TR" dirty="0">
                <a:latin typeface="Times New Roman" panose="02020603050405020304" pitchFamily="18" charset="0"/>
                <a:cs typeface="Times New Roman" panose="02020603050405020304" pitchFamily="18" charset="0"/>
              </a:rPr>
              <a:t>Bunu geçekleştirmek için makine geçmiş dönemlerdeki öğrencilerin bilgilerine göre eğitilmektedir. </a:t>
            </a:r>
          </a:p>
          <a:p>
            <a:pPr algn="just">
              <a:lnSpc>
                <a:spcPct val="150000"/>
              </a:lnSpc>
            </a:pPr>
            <a:r>
              <a:rPr lang="tr-TR" dirty="0">
                <a:latin typeface="Times New Roman" panose="02020603050405020304" pitchFamily="18" charset="0"/>
                <a:cs typeface="Times New Roman" panose="02020603050405020304" pitchFamily="18" charset="0"/>
              </a:rPr>
              <a:t>Yani bir grup öğrenci verisinde öğrencilerin tek tek dersle ilgili girdi değerleri (derse devam durumu, ödev puanı, dersteki etkileşimi, dersle ilgili ilave kurs katılımı var mı gibi) öğretilir buna karşılık öğrencinin ders başarı durumu (geçti, kaldı ya da puan) da öğretilir.</a:t>
            </a:r>
          </a:p>
          <a:p>
            <a:pPr algn="just">
              <a:lnSpc>
                <a:spcPct val="150000"/>
              </a:lnSpc>
            </a:pPr>
            <a:r>
              <a:rPr lang="tr-TR" dirty="0">
                <a:latin typeface="Times New Roman" panose="02020603050405020304" pitchFamily="18" charset="0"/>
                <a:cs typeface="Times New Roman" panose="02020603050405020304" pitchFamily="18" charset="0"/>
              </a:rPr>
              <a:t>Öğrenmiş olduğu geçmiş bilgiye dayanarak sisteme katılan yeni öğrencinin durumunu tahmin eder.</a:t>
            </a:r>
          </a:p>
        </p:txBody>
      </p:sp>
    </p:spTree>
    <p:extLst>
      <p:ext uri="{BB962C8B-B14F-4D97-AF65-F5344CB8AC3E}">
        <p14:creationId xmlns:p14="http://schemas.microsoft.com/office/powerpoint/2010/main" val="4108450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CFEFE6E-101A-82FA-3814-8C549E856DF8}"/>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Denetimli Öğrenme Örneği</a:t>
            </a:r>
            <a:endParaRPr lang="tr-TR" dirty="0">
              <a:solidFill>
                <a:srgbClr val="C00000"/>
              </a:solidFill>
            </a:endParaRPr>
          </a:p>
        </p:txBody>
      </p:sp>
      <p:sp>
        <p:nvSpPr>
          <p:cNvPr id="3" name="İçerik Yer Tutucusu 2">
            <a:extLst>
              <a:ext uri="{FF2B5EF4-FFF2-40B4-BE49-F238E27FC236}">
                <a16:creationId xmlns:a16="http://schemas.microsoft.com/office/drawing/2014/main" id="{4F3503C6-CE5E-9B9E-4D03-FACA6A822E24}"/>
              </a:ext>
            </a:extLst>
          </p:cNvPr>
          <p:cNvSpPr>
            <a:spLocks noGrp="1"/>
          </p:cNvSpPr>
          <p:nvPr>
            <p:ph idx="1"/>
          </p:nvPr>
        </p:nvSpPr>
        <p:spPr/>
        <p:txBody>
          <a:bodyPr>
            <a:normAutofit fontScale="92500"/>
          </a:bodyPr>
          <a:lstStyle/>
          <a:p>
            <a:pPr>
              <a:lnSpc>
                <a:spcPct val="150000"/>
              </a:lnSpc>
            </a:pPr>
            <a:r>
              <a:rPr lang="tr-TR" dirty="0">
                <a:solidFill>
                  <a:schemeClr val="accent2"/>
                </a:solidFill>
                <a:latin typeface="Times New Roman" panose="02020603050405020304" pitchFamily="18" charset="0"/>
                <a:cs typeface="Times New Roman" panose="02020603050405020304" pitchFamily="18" charset="0"/>
              </a:rPr>
              <a:t>Mailler arasından bazılarının tehdit unsuru görülerek </a:t>
            </a:r>
            <a:r>
              <a:rPr lang="tr-TR" dirty="0" err="1">
                <a:solidFill>
                  <a:schemeClr val="accent2"/>
                </a:solidFill>
                <a:latin typeface="Times New Roman" panose="02020603050405020304" pitchFamily="18" charset="0"/>
                <a:cs typeface="Times New Roman" panose="02020603050405020304" pitchFamily="18" charset="0"/>
              </a:rPr>
              <a:t>spam</a:t>
            </a:r>
            <a:r>
              <a:rPr lang="tr-TR" dirty="0">
                <a:solidFill>
                  <a:schemeClr val="accent2"/>
                </a:solidFill>
                <a:latin typeface="Times New Roman" panose="02020603050405020304" pitchFamily="18" charset="0"/>
                <a:cs typeface="Times New Roman" panose="02020603050405020304" pitchFamily="18" charset="0"/>
              </a:rPr>
              <a:t> mail olarak ayrılması</a:t>
            </a:r>
          </a:p>
          <a:p>
            <a:pPr>
              <a:lnSpc>
                <a:spcPct val="150000"/>
              </a:lnSpc>
            </a:pPr>
            <a:r>
              <a:rPr lang="tr-TR" dirty="0">
                <a:latin typeface="Times New Roman" panose="02020603050405020304" pitchFamily="18" charset="0"/>
                <a:cs typeface="Times New Roman" panose="02020603050405020304" pitchFamily="18" charset="0"/>
              </a:rPr>
              <a:t>Bunun için e-postalardaki bazı kelime öbekleri tehdit olarak öğretilmektedir ve buna karşılık bu mailler </a:t>
            </a:r>
            <a:r>
              <a:rPr lang="tr-TR" dirty="0" err="1">
                <a:latin typeface="Times New Roman" panose="02020603050405020304" pitchFamily="18" charset="0"/>
                <a:cs typeface="Times New Roman" panose="02020603050405020304" pitchFamily="18" charset="0"/>
              </a:rPr>
              <a:t>spam</a:t>
            </a:r>
            <a:r>
              <a:rPr lang="tr-TR" dirty="0">
                <a:latin typeface="Times New Roman" panose="02020603050405020304" pitchFamily="18" charset="0"/>
                <a:cs typeface="Times New Roman" panose="02020603050405020304" pitchFamily="18" charset="0"/>
              </a:rPr>
              <a:t> klasörüne gönderilmesi belirtilmektedir.</a:t>
            </a:r>
          </a:p>
          <a:p>
            <a:pPr>
              <a:lnSpc>
                <a:spcPct val="150000"/>
              </a:lnSpc>
            </a:pPr>
            <a:r>
              <a:rPr lang="tr-TR" dirty="0" err="1">
                <a:latin typeface="Times New Roman" panose="02020603050405020304" pitchFamily="18" charset="0"/>
                <a:cs typeface="Times New Roman" panose="02020603050405020304" pitchFamily="18" charset="0"/>
              </a:rPr>
              <a:t>Gmail</a:t>
            </a:r>
            <a:r>
              <a:rPr lang="tr-TR" dirty="0">
                <a:latin typeface="Times New Roman" panose="02020603050405020304" pitchFamily="18" charset="0"/>
                <a:cs typeface="Times New Roman" panose="02020603050405020304" pitchFamily="18" charset="0"/>
              </a:rPr>
              <a:t> bu konuda çok fazla maille karşılaştığı için  yani veri sıkılığı ve büyüklüğü yoğun olduğu için oldukça düzgün çalışmaktadır. </a:t>
            </a:r>
          </a:p>
          <a:p>
            <a:pPr>
              <a:lnSpc>
                <a:spcPct val="150000"/>
              </a:lnSpc>
            </a:pPr>
            <a:endParaRPr lang="tr-T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2881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0DDD8F-A104-456B-ED55-E1EDC8FE33EF}"/>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Denetimli Öğrenme</a:t>
            </a:r>
            <a:endParaRPr lang="tr-TR" dirty="0">
              <a:solidFill>
                <a:srgbClr val="C00000"/>
              </a:solidFill>
            </a:endParaRPr>
          </a:p>
        </p:txBody>
      </p:sp>
      <p:sp>
        <p:nvSpPr>
          <p:cNvPr id="3" name="İçerik Yer Tutucusu 2">
            <a:extLst>
              <a:ext uri="{FF2B5EF4-FFF2-40B4-BE49-F238E27FC236}">
                <a16:creationId xmlns:a16="http://schemas.microsoft.com/office/drawing/2014/main" id="{29726FFA-E08B-C2D4-A0D1-499E97973A3E}"/>
              </a:ext>
            </a:extLst>
          </p:cNvPr>
          <p:cNvSpPr>
            <a:spLocks noGrp="1"/>
          </p:cNvSpPr>
          <p:nvPr>
            <p:ph idx="1"/>
          </p:nvPr>
        </p:nvSpPr>
        <p:spPr/>
        <p:txBody>
          <a:bodyPr/>
          <a:lstStyle/>
          <a:p>
            <a:r>
              <a:rPr lang="tr-TR" dirty="0">
                <a:latin typeface="Times New Roman" panose="02020603050405020304" pitchFamily="18" charset="0"/>
                <a:cs typeface="Times New Roman" panose="02020603050405020304" pitchFamily="18" charset="0"/>
              </a:rPr>
              <a:t>Bu noktada eğitim verisinin düzgün, tutarlı, dengeli ve yeterli sayıda olması çok önemlidir. </a:t>
            </a:r>
          </a:p>
          <a:p>
            <a:endParaRPr lang="tr-TR" dirty="0">
              <a:latin typeface="Times New Roman" panose="02020603050405020304" pitchFamily="18" charset="0"/>
              <a:cs typeface="Times New Roman" panose="02020603050405020304" pitchFamily="18" charset="0"/>
            </a:endParaRPr>
          </a:p>
          <a:p>
            <a:r>
              <a:rPr lang="tr-TR" dirty="0">
                <a:latin typeface="Times New Roman" panose="02020603050405020304" pitchFamily="18" charset="0"/>
                <a:cs typeface="Times New Roman" panose="02020603050405020304" pitchFamily="18" charset="0"/>
              </a:rPr>
              <a:t>Veri ön işleme adımının önemi bu anlamda bir kez daha belirtilmelidir.</a:t>
            </a:r>
          </a:p>
        </p:txBody>
      </p:sp>
    </p:spTree>
    <p:extLst>
      <p:ext uri="{BB962C8B-B14F-4D97-AF65-F5344CB8AC3E}">
        <p14:creationId xmlns:p14="http://schemas.microsoft.com/office/powerpoint/2010/main" val="2646400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6DC2DF6-1455-2337-348E-BA9DA20A3174}"/>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Denetimsiz Öğrenme</a:t>
            </a:r>
          </a:p>
        </p:txBody>
      </p:sp>
      <p:sp>
        <p:nvSpPr>
          <p:cNvPr id="3" name="İçerik Yer Tutucusu 2">
            <a:extLst>
              <a:ext uri="{FF2B5EF4-FFF2-40B4-BE49-F238E27FC236}">
                <a16:creationId xmlns:a16="http://schemas.microsoft.com/office/drawing/2014/main" id="{A8468F56-4D1D-E424-72B6-E5F4AA9E267D}"/>
              </a:ext>
            </a:extLst>
          </p:cNvPr>
          <p:cNvSpPr>
            <a:spLocks noGrp="1"/>
          </p:cNvSpPr>
          <p:nvPr>
            <p:ph idx="1"/>
          </p:nvPr>
        </p:nvSpPr>
        <p:spPr/>
        <p:txBody>
          <a:bodyPr>
            <a:normAutofit/>
          </a:bodyPr>
          <a:lstStyle/>
          <a:p>
            <a:pPr algn="just">
              <a:lnSpc>
                <a:spcPct val="150000"/>
              </a:lnSpc>
            </a:pPr>
            <a:r>
              <a:rPr lang="tr-TR" b="0" i="0" u="none" strike="noStrike" dirty="0">
                <a:solidFill>
                  <a:srgbClr val="333333"/>
                </a:solidFill>
                <a:effectLst/>
                <a:latin typeface="Times New Roman" panose="02020603050405020304" pitchFamily="18" charset="0"/>
                <a:cs typeface="Times New Roman" panose="02020603050405020304" pitchFamily="18" charset="0"/>
              </a:rPr>
              <a:t>Denetimsiz öğrenmenin bir diğer adı gözetimsiz öğrenmedir.</a:t>
            </a:r>
          </a:p>
          <a:p>
            <a:pPr algn="just">
              <a:lnSpc>
                <a:spcPct val="150000"/>
              </a:lnSpc>
            </a:pPr>
            <a:r>
              <a:rPr lang="tr-TR" dirty="0">
                <a:solidFill>
                  <a:srgbClr val="333333"/>
                </a:solidFill>
                <a:latin typeface="Times New Roman" panose="02020603050405020304" pitchFamily="18" charset="0"/>
                <a:cs typeface="Times New Roman" panose="02020603050405020304" pitchFamily="18" charset="0"/>
              </a:rPr>
              <a:t>Bu öğrenme yönteminde model bilgileri kendi kendine keşfeder.</a:t>
            </a:r>
          </a:p>
          <a:p>
            <a:pPr algn="just">
              <a:lnSpc>
                <a:spcPct val="150000"/>
              </a:lnSpc>
            </a:pPr>
            <a:r>
              <a:rPr lang="tr-TR" b="0" i="0" u="none" strike="noStrike" dirty="0">
                <a:solidFill>
                  <a:srgbClr val="333333"/>
                </a:solidFill>
                <a:effectLst/>
                <a:latin typeface="Times New Roman" panose="02020603050405020304" pitchFamily="18" charset="0"/>
                <a:cs typeface="Times New Roman" panose="02020603050405020304" pitchFamily="18" charset="0"/>
              </a:rPr>
              <a:t>Girdi veri setine karşılık bir çıktı veri seti bulunmamaktadır.</a:t>
            </a:r>
          </a:p>
          <a:p>
            <a:pPr algn="just">
              <a:lnSpc>
                <a:spcPct val="150000"/>
              </a:lnSpc>
            </a:pPr>
            <a:r>
              <a:rPr lang="tr-TR" dirty="0">
                <a:solidFill>
                  <a:srgbClr val="333333"/>
                </a:solidFill>
                <a:latin typeface="Times New Roman" panose="02020603050405020304" pitchFamily="18" charset="0"/>
                <a:cs typeface="Times New Roman" panose="02020603050405020304" pitchFamily="18" charset="0"/>
              </a:rPr>
              <a:t>Girdi-çıktı kurallar sisteminden değil sadece verinin kendisinden öğrenmektedir.</a:t>
            </a:r>
          </a:p>
          <a:p>
            <a:endParaRPr lang="tr-TR" dirty="0"/>
          </a:p>
        </p:txBody>
      </p:sp>
    </p:spTree>
    <p:extLst>
      <p:ext uri="{BB962C8B-B14F-4D97-AF65-F5344CB8AC3E}">
        <p14:creationId xmlns:p14="http://schemas.microsoft.com/office/powerpoint/2010/main" val="297363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04C6F06-E774-B686-11C6-77772A20E073}"/>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Denetimsiz Öğrenme</a:t>
            </a:r>
            <a:endParaRPr lang="tr-TR" dirty="0">
              <a:solidFill>
                <a:srgbClr val="C00000"/>
              </a:solidFill>
            </a:endParaRPr>
          </a:p>
        </p:txBody>
      </p:sp>
      <p:sp>
        <p:nvSpPr>
          <p:cNvPr id="3" name="İçerik Yer Tutucusu 2">
            <a:extLst>
              <a:ext uri="{FF2B5EF4-FFF2-40B4-BE49-F238E27FC236}">
                <a16:creationId xmlns:a16="http://schemas.microsoft.com/office/drawing/2014/main" id="{419C736D-5EC2-2361-BC2F-8F904087953B}"/>
              </a:ext>
            </a:extLst>
          </p:cNvPr>
          <p:cNvSpPr>
            <a:spLocks noGrp="1"/>
          </p:cNvSpPr>
          <p:nvPr>
            <p:ph idx="1"/>
          </p:nvPr>
        </p:nvSpPr>
        <p:spPr/>
        <p:txBody>
          <a:bodyPr/>
          <a:lstStyle/>
          <a:p>
            <a:pPr algn="just">
              <a:lnSpc>
                <a:spcPct val="150000"/>
              </a:lnSpc>
            </a:pPr>
            <a:r>
              <a:rPr lang="tr-TR" b="0" i="0" u="none" strike="noStrike" dirty="0">
                <a:solidFill>
                  <a:srgbClr val="333333"/>
                </a:solidFill>
                <a:effectLst/>
                <a:latin typeface="Times New Roman" panose="02020603050405020304" pitchFamily="18" charset="0"/>
                <a:cs typeface="Times New Roman" panose="02020603050405020304" pitchFamily="18" charset="0"/>
              </a:rPr>
              <a:t>Veri setindeki örneklerin benzerliklerinden hareket edilmektedir.</a:t>
            </a:r>
          </a:p>
          <a:p>
            <a:pPr algn="just">
              <a:lnSpc>
                <a:spcPct val="150000"/>
              </a:lnSpc>
            </a:pPr>
            <a:r>
              <a:rPr lang="tr-TR" b="0" i="0" u="none" strike="noStrike" dirty="0">
                <a:solidFill>
                  <a:srgbClr val="333333"/>
                </a:solidFill>
                <a:effectLst/>
                <a:latin typeface="Times New Roman" panose="02020603050405020304" pitchFamily="18" charset="0"/>
                <a:cs typeface="Times New Roman" panose="02020603050405020304" pitchFamily="18" charset="0"/>
              </a:rPr>
              <a:t>Denetimli öğrenmeye kıyasla daha karmaşıktır.</a:t>
            </a:r>
          </a:p>
          <a:p>
            <a:pPr algn="just">
              <a:lnSpc>
                <a:spcPct val="150000"/>
              </a:lnSpc>
            </a:pPr>
            <a:r>
              <a:rPr lang="tr-TR" dirty="0">
                <a:solidFill>
                  <a:srgbClr val="333333"/>
                </a:solidFill>
                <a:latin typeface="Times New Roman" panose="02020603050405020304" pitchFamily="18" charset="0"/>
                <a:cs typeface="Times New Roman" panose="02020603050405020304" pitchFamily="18" charset="0"/>
              </a:rPr>
              <a:t>Kullanıcının sisteme müdahalesi yoktur.</a:t>
            </a:r>
          </a:p>
          <a:p>
            <a:pPr algn="just">
              <a:lnSpc>
                <a:spcPct val="150000"/>
              </a:lnSpc>
            </a:pPr>
            <a:r>
              <a:rPr lang="tr-TR" dirty="0">
                <a:solidFill>
                  <a:srgbClr val="333333"/>
                </a:solidFill>
                <a:latin typeface="Times New Roman" panose="02020603050405020304" pitchFamily="18" charset="0"/>
                <a:cs typeface="Times New Roman" panose="02020603050405020304" pitchFamily="18" charset="0"/>
              </a:rPr>
              <a:t>Verileri keşfetme ve fikir verme amaçlıdır.</a:t>
            </a:r>
          </a:p>
          <a:p>
            <a:endParaRPr lang="tr-TR" dirty="0"/>
          </a:p>
        </p:txBody>
      </p:sp>
    </p:spTree>
    <p:extLst>
      <p:ext uri="{BB962C8B-B14F-4D97-AF65-F5344CB8AC3E}">
        <p14:creationId xmlns:p14="http://schemas.microsoft.com/office/powerpoint/2010/main" val="669621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185E234-06A8-9231-5EFA-58A3A7A65992}"/>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Denetimsiz Öğrenme Yöntemleri</a:t>
            </a:r>
          </a:p>
        </p:txBody>
      </p:sp>
      <p:sp>
        <p:nvSpPr>
          <p:cNvPr id="3" name="İçerik Yer Tutucusu 2">
            <a:extLst>
              <a:ext uri="{FF2B5EF4-FFF2-40B4-BE49-F238E27FC236}">
                <a16:creationId xmlns:a16="http://schemas.microsoft.com/office/drawing/2014/main" id="{872441DB-D724-FFB2-D706-639C7A568AA6}"/>
              </a:ext>
            </a:extLst>
          </p:cNvPr>
          <p:cNvSpPr>
            <a:spLocks noGrp="1"/>
          </p:cNvSpPr>
          <p:nvPr>
            <p:ph idx="1"/>
          </p:nvPr>
        </p:nvSpPr>
        <p:spPr/>
        <p:txBody>
          <a:bodyPr/>
          <a:lstStyle/>
          <a:p>
            <a:r>
              <a:rPr lang="tr-TR" dirty="0">
                <a:latin typeface="Times New Roman" panose="02020603050405020304" pitchFamily="18" charset="0"/>
                <a:cs typeface="Times New Roman" panose="02020603050405020304" pitchFamily="18" charset="0"/>
              </a:rPr>
              <a:t>Kümeleme</a:t>
            </a:r>
          </a:p>
          <a:p>
            <a:pPr lvl="1"/>
            <a:r>
              <a:rPr lang="tr-TR" dirty="0">
                <a:latin typeface="Times New Roman" panose="02020603050405020304" pitchFamily="18" charset="0"/>
                <a:cs typeface="Times New Roman" panose="02020603050405020304" pitchFamily="18" charset="0"/>
              </a:rPr>
              <a:t>K-kümeleme</a:t>
            </a:r>
          </a:p>
          <a:p>
            <a:pPr lvl="1"/>
            <a:r>
              <a:rPr lang="tr-TR" dirty="0">
                <a:latin typeface="Times New Roman" panose="02020603050405020304" pitchFamily="18" charset="0"/>
                <a:cs typeface="Times New Roman" panose="02020603050405020304" pitchFamily="18" charset="0"/>
              </a:rPr>
              <a:t>Hiyerarşik kümeleme</a:t>
            </a:r>
          </a:p>
          <a:p>
            <a:pPr lvl="1"/>
            <a:r>
              <a:rPr lang="tr-TR" dirty="0" err="1">
                <a:latin typeface="Times New Roman" panose="02020603050405020304" pitchFamily="18" charset="0"/>
                <a:cs typeface="Times New Roman" panose="02020603050405020304" pitchFamily="18" charset="0"/>
              </a:rPr>
              <a:t>Olasılıksal</a:t>
            </a:r>
            <a:r>
              <a:rPr lang="tr-TR" dirty="0">
                <a:latin typeface="Times New Roman" panose="02020603050405020304" pitchFamily="18" charset="0"/>
                <a:cs typeface="Times New Roman" panose="02020603050405020304" pitchFamily="18" charset="0"/>
              </a:rPr>
              <a:t> kümeleme</a:t>
            </a:r>
          </a:p>
          <a:p>
            <a:r>
              <a:rPr lang="tr-TR" dirty="0">
                <a:latin typeface="Times New Roman" panose="02020603050405020304" pitchFamily="18" charset="0"/>
                <a:cs typeface="Times New Roman" panose="02020603050405020304" pitchFamily="18" charset="0"/>
              </a:rPr>
              <a:t>İlişki Kuralları</a:t>
            </a:r>
          </a:p>
          <a:p>
            <a:endParaRPr lang="tr-TR" dirty="0">
              <a:latin typeface="Times New Roman" panose="02020603050405020304" pitchFamily="18" charset="0"/>
              <a:cs typeface="Times New Roman" panose="02020603050405020304" pitchFamily="18" charset="0"/>
            </a:endParaRPr>
          </a:p>
          <a:p>
            <a:endParaRPr lang="tr-TR" dirty="0">
              <a:latin typeface="Times New Roman" panose="02020603050405020304" pitchFamily="18" charset="0"/>
              <a:cs typeface="Times New Roman" panose="02020603050405020304" pitchFamily="18" charset="0"/>
            </a:endParaRPr>
          </a:p>
        </p:txBody>
      </p:sp>
      <p:pic>
        <p:nvPicPr>
          <p:cNvPr id="4" name="Resim 3">
            <a:extLst>
              <a:ext uri="{FF2B5EF4-FFF2-40B4-BE49-F238E27FC236}">
                <a16:creationId xmlns:a16="http://schemas.microsoft.com/office/drawing/2014/main" id="{71A998E4-D2FB-4851-840F-ADDFABB498F5}"/>
              </a:ext>
            </a:extLst>
          </p:cNvPr>
          <p:cNvPicPr>
            <a:picLocks noChangeAspect="1"/>
          </p:cNvPicPr>
          <p:nvPr/>
        </p:nvPicPr>
        <p:blipFill>
          <a:blip r:embed="rId2"/>
          <a:stretch>
            <a:fillRect/>
          </a:stretch>
        </p:blipFill>
        <p:spPr>
          <a:xfrm>
            <a:off x="4529890" y="3642895"/>
            <a:ext cx="6934200" cy="1930400"/>
          </a:xfrm>
          <a:prstGeom prst="rect">
            <a:avLst/>
          </a:prstGeom>
        </p:spPr>
      </p:pic>
    </p:spTree>
    <p:extLst>
      <p:ext uri="{BB962C8B-B14F-4D97-AF65-F5344CB8AC3E}">
        <p14:creationId xmlns:p14="http://schemas.microsoft.com/office/powerpoint/2010/main" val="3197834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4479F0-21E9-D841-45D2-F8B407AF6209}"/>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Denetimsiz Öğrenme Örnekleri</a:t>
            </a:r>
          </a:p>
        </p:txBody>
      </p:sp>
      <p:sp>
        <p:nvSpPr>
          <p:cNvPr id="3" name="İçerik Yer Tutucusu 2">
            <a:extLst>
              <a:ext uri="{FF2B5EF4-FFF2-40B4-BE49-F238E27FC236}">
                <a16:creationId xmlns:a16="http://schemas.microsoft.com/office/drawing/2014/main" id="{9043C539-4DF9-7B93-AC0A-BDB3102B1777}"/>
              </a:ext>
            </a:extLst>
          </p:cNvPr>
          <p:cNvSpPr>
            <a:spLocks noGrp="1"/>
          </p:cNvSpPr>
          <p:nvPr>
            <p:ph idx="1"/>
          </p:nvPr>
        </p:nvSpPr>
        <p:spPr/>
        <p:txBody>
          <a:bodyPr>
            <a:normAutofit/>
          </a:bodyPr>
          <a:lstStyle/>
          <a:p>
            <a:r>
              <a:rPr lang="tr-TR" b="0" i="0" u="none" strike="noStrike" dirty="0">
                <a:solidFill>
                  <a:schemeClr val="accent2"/>
                </a:solidFill>
                <a:effectLst/>
                <a:latin typeface="Times New Roman" panose="02020603050405020304" pitchFamily="18" charset="0"/>
                <a:cs typeface="Times New Roman" panose="02020603050405020304" pitchFamily="18" charset="0"/>
              </a:rPr>
              <a:t>Müşterilerin kümelenmesi</a:t>
            </a:r>
          </a:p>
          <a:p>
            <a:endParaRPr lang="tr-TR" b="0" i="0" u="none" strike="noStrike" dirty="0">
              <a:solidFill>
                <a:srgbClr val="222222"/>
              </a:solidFill>
              <a:effectLst/>
              <a:latin typeface="Times New Roman" panose="02020603050405020304" pitchFamily="18" charset="0"/>
              <a:cs typeface="Times New Roman" panose="02020603050405020304" pitchFamily="18" charset="0"/>
            </a:endParaRPr>
          </a:p>
          <a:p>
            <a:r>
              <a:rPr lang="tr-TR" dirty="0">
                <a:solidFill>
                  <a:srgbClr val="222222"/>
                </a:solidFill>
                <a:latin typeface="Times New Roman" panose="02020603050405020304" pitchFamily="18" charset="0"/>
                <a:cs typeface="Times New Roman" panose="02020603050405020304" pitchFamily="18" charset="0"/>
              </a:rPr>
              <a:t>Müşterilerin satın alma özellik ve alışkanlıklarına göre benzer özellikleri ortaya çıkartılarak kümelenir</a:t>
            </a:r>
          </a:p>
          <a:p>
            <a:endParaRPr lang="tr-TR" b="0" i="0" u="none" strike="noStrike" dirty="0">
              <a:solidFill>
                <a:srgbClr val="222222"/>
              </a:solidFill>
              <a:effectLst/>
              <a:latin typeface="Times New Roman" panose="02020603050405020304" pitchFamily="18" charset="0"/>
              <a:cs typeface="Times New Roman" panose="02020603050405020304" pitchFamily="18" charset="0"/>
            </a:endParaRPr>
          </a:p>
          <a:p>
            <a:r>
              <a:rPr lang="tr-TR" b="0" i="0" u="none" strike="noStrike" dirty="0">
                <a:solidFill>
                  <a:srgbClr val="222222"/>
                </a:solidFill>
                <a:effectLst/>
                <a:latin typeface="Times New Roman" panose="02020603050405020304" pitchFamily="18" charset="0"/>
                <a:cs typeface="Times New Roman" panose="02020603050405020304" pitchFamily="18" charset="0"/>
              </a:rPr>
              <a:t>Pazar araştırmalarında kullanılır.</a:t>
            </a:r>
          </a:p>
          <a:p>
            <a:endParaRPr lang="tr-TR" dirty="0">
              <a:solidFill>
                <a:srgbClr val="222222"/>
              </a:solidFill>
              <a:latin typeface="Times New Roman" panose="02020603050405020304" pitchFamily="18" charset="0"/>
              <a:cs typeface="Times New Roman" panose="02020603050405020304" pitchFamily="18" charset="0"/>
            </a:endParaRPr>
          </a:p>
          <a:p>
            <a:endParaRPr lang="tr-T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545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3A7CA4F-955E-5E83-066A-22790597F4B9}"/>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Yarı Denetimli Öğrenme</a:t>
            </a:r>
          </a:p>
        </p:txBody>
      </p:sp>
      <p:sp>
        <p:nvSpPr>
          <p:cNvPr id="3" name="İçerik Yer Tutucusu 2">
            <a:extLst>
              <a:ext uri="{FF2B5EF4-FFF2-40B4-BE49-F238E27FC236}">
                <a16:creationId xmlns:a16="http://schemas.microsoft.com/office/drawing/2014/main" id="{9C30804B-5DE9-0F4C-ACB8-652861494C78}"/>
              </a:ext>
            </a:extLst>
          </p:cNvPr>
          <p:cNvSpPr>
            <a:spLocks noGrp="1"/>
          </p:cNvSpPr>
          <p:nvPr>
            <p:ph idx="1"/>
          </p:nvPr>
        </p:nvSpPr>
        <p:spPr/>
        <p:txBody>
          <a:bodyPr>
            <a:normAutofit fontScale="85000" lnSpcReduction="20000"/>
          </a:bodyPr>
          <a:lstStyle/>
          <a:p>
            <a:pPr algn="just">
              <a:lnSpc>
                <a:spcPct val="150000"/>
              </a:lnSpc>
            </a:pPr>
            <a:r>
              <a:rPr lang="tr-TR" dirty="0">
                <a:solidFill>
                  <a:srgbClr val="202124"/>
                </a:solidFill>
                <a:latin typeface="Times New Roman" panose="02020603050405020304" pitchFamily="18" charset="0"/>
                <a:cs typeface="Times New Roman" panose="02020603050405020304" pitchFamily="18" charset="0"/>
              </a:rPr>
              <a:t>Bu öğrenme yönteminde etiketlenmiş küçük bir veri seti bulunurken bunun yanında etiketlenmemiş büyük bir veri seti bulunmaktadır. </a:t>
            </a:r>
            <a:r>
              <a:rPr lang="tr-TR" altLang="tr-TR" dirty="0">
                <a:solidFill>
                  <a:srgbClr val="202124"/>
                </a:solidFill>
                <a:latin typeface="Times New Roman" panose="02020603050405020304" pitchFamily="18" charset="0"/>
                <a:cs typeface="Times New Roman" panose="02020603050405020304" pitchFamily="18" charset="0"/>
              </a:rPr>
              <a:t>Model, etiketli veriden “doğru cevap” ilişkisini öğrenir; etiketsiz veriyi de verinin yapısını/dağılımını anlamak için kullanarak performansını artırmaya çalışır.</a:t>
            </a:r>
            <a:endParaRPr lang="tr-TR" dirty="0">
              <a:solidFill>
                <a:srgbClr val="202124"/>
              </a:solidFill>
              <a:latin typeface="Times New Roman" panose="02020603050405020304" pitchFamily="18" charset="0"/>
              <a:cs typeface="Times New Roman" panose="02020603050405020304" pitchFamily="18" charset="0"/>
            </a:endParaRPr>
          </a:p>
          <a:p>
            <a:pPr algn="just">
              <a:lnSpc>
                <a:spcPct val="150000"/>
              </a:lnSpc>
            </a:pPr>
            <a:r>
              <a:rPr lang="tr-TR" dirty="0">
                <a:solidFill>
                  <a:srgbClr val="202124"/>
                </a:solidFill>
                <a:latin typeface="Times New Roman" panose="02020603050405020304" pitchFamily="18" charset="0"/>
                <a:cs typeface="Times New Roman" panose="02020603050405020304" pitchFamily="18" charset="0"/>
              </a:rPr>
              <a:t>Etiketlenmemiş verilerden yararlı özellikler çıkartmak zor olduğunda ve girdi verilerin etiketlenmesinin pahalı, zor ya da uzun olduğu durumlarda kullanılabilir.</a:t>
            </a:r>
          </a:p>
          <a:p>
            <a:pPr algn="just">
              <a:lnSpc>
                <a:spcPct val="150000"/>
              </a:lnSpc>
            </a:pPr>
            <a:r>
              <a:rPr lang="tr-TR" dirty="0">
                <a:solidFill>
                  <a:srgbClr val="202124"/>
                </a:solidFill>
                <a:latin typeface="Times New Roman" panose="02020603050405020304" pitchFamily="18" charset="0"/>
                <a:cs typeface="Times New Roman" panose="02020603050405020304" pitchFamily="18" charset="0"/>
              </a:rPr>
              <a:t>Bu sistemlerin denetimli ve yarı denetimli sistemlerden daha üstün olduğu düşünülmektedir.</a:t>
            </a:r>
          </a:p>
        </p:txBody>
      </p:sp>
    </p:spTree>
    <p:extLst>
      <p:ext uri="{BB962C8B-B14F-4D97-AF65-F5344CB8AC3E}">
        <p14:creationId xmlns:p14="http://schemas.microsoft.com/office/powerpoint/2010/main" val="2528539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CB8486-7BF0-B05E-AC17-524A06387D66}"/>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Yarı Denetimli Öğrenme Yöntemleri</a:t>
            </a:r>
            <a:endParaRPr lang="tr-TR" dirty="0">
              <a:solidFill>
                <a:srgbClr val="C00000"/>
              </a:solidFill>
            </a:endParaRPr>
          </a:p>
        </p:txBody>
      </p:sp>
      <p:sp>
        <p:nvSpPr>
          <p:cNvPr id="3" name="İçerik Yer Tutucusu 2">
            <a:extLst>
              <a:ext uri="{FF2B5EF4-FFF2-40B4-BE49-F238E27FC236}">
                <a16:creationId xmlns:a16="http://schemas.microsoft.com/office/drawing/2014/main" id="{E02D7271-19B2-B63A-078F-86F278A8E8ED}"/>
              </a:ext>
            </a:extLst>
          </p:cNvPr>
          <p:cNvSpPr>
            <a:spLocks noGrp="1"/>
          </p:cNvSpPr>
          <p:nvPr>
            <p:ph idx="1"/>
          </p:nvPr>
        </p:nvSpPr>
        <p:spPr>
          <a:xfrm>
            <a:off x="1097280" y="1845733"/>
            <a:ext cx="3001191" cy="2105781"/>
          </a:xfrm>
        </p:spPr>
        <p:txBody>
          <a:bodyPr>
            <a:normAutofit/>
          </a:bodyPr>
          <a:lstStyle/>
          <a:p>
            <a:pPr lvl="1" algn="just">
              <a:lnSpc>
                <a:spcPct val="150000"/>
              </a:lnSpc>
            </a:pPr>
            <a:r>
              <a:rPr lang="tr-TR" dirty="0">
                <a:solidFill>
                  <a:srgbClr val="222222"/>
                </a:solidFill>
                <a:latin typeface="Times New Roman" panose="02020603050405020304" pitchFamily="18" charset="0"/>
                <a:cs typeface="Times New Roman" panose="02020603050405020304" pitchFamily="18" charset="0"/>
              </a:rPr>
              <a:t>Sınıflandırma </a:t>
            </a:r>
          </a:p>
          <a:p>
            <a:pPr lvl="1" algn="just">
              <a:lnSpc>
                <a:spcPct val="150000"/>
              </a:lnSpc>
            </a:pPr>
            <a:r>
              <a:rPr lang="tr-TR" b="0" i="0" u="none" strike="noStrike" dirty="0">
                <a:solidFill>
                  <a:srgbClr val="222222"/>
                </a:solidFill>
                <a:effectLst/>
                <a:latin typeface="Times New Roman" panose="02020603050405020304" pitchFamily="18" charset="0"/>
                <a:cs typeface="Times New Roman" panose="02020603050405020304" pitchFamily="18" charset="0"/>
              </a:rPr>
              <a:t>Kümeleme</a:t>
            </a:r>
          </a:p>
          <a:p>
            <a:pPr algn="just">
              <a:lnSpc>
                <a:spcPct val="150000"/>
              </a:lnSpc>
            </a:pPr>
            <a:endParaRPr lang="tr-TR" sz="2400" dirty="0">
              <a:latin typeface="Times New Roman" panose="02020603050405020304" pitchFamily="18" charset="0"/>
              <a:cs typeface="Times New Roman" panose="02020603050405020304" pitchFamily="18" charset="0"/>
            </a:endParaRPr>
          </a:p>
        </p:txBody>
      </p:sp>
      <p:pic>
        <p:nvPicPr>
          <p:cNvPr id="4" name="Resim 3">
            <a:extLst>
              <a:ext uri="{FF2B5EF4-FFF2-40B4-BE49-F238E27FC236}">
                <a16:creationId xmlns:a16="http://schemas.microsoft.com/office/drawing/2014/main" id="{05C48C48-0E79-F5AA-7C8B-568D378FAD20}"/>
              </a:ext>
            </a:extLst>
          </p:cNvPr>
          <p:cNvPicPr>
            <a:picLocks noChangeAspect="1"/>
          </p:cNvPicPr>
          <p:nvPr/>
        </p:nvPicPr>
        <p:blipFill>
          <a:blip r:embed="rId2"/>
          <a:stretch>
            <a:fillRect/>
          </a:stretch>
        </p:blipFill>
        <p:spPr>
          <a:xfrm>
            <a:off x="5149804" y="1398428"/>
            <a:ext cx="6203996" cy="1988460"/>
          </a:xfrm>
          <a:prstGeom prst="rect">
            <a:avLst/>
          </a:prstGeom>
        </p:spPr>
      </p:pic>
      <p:graphicFrame>
        <p:nvGraphicFramePr>
          <p:cNvPr id="5" name="Tablo 4">
            <a:extLst>
              <a:ext uri="{FF2B5EF4-FFF2-40B4-BE49-F238E27FC236}">
                <a16:creationId xmlns:a16="http://schemas.microsoft.com/office/drawing/2014/main" id="{77DC44F9-5213-785B-181C-7350DAD1AB94}"/>
              </a:ext>
            </a:extLst>
          </p:cNvPr>
          <p:cNvGraphicFramePr>
            <a:graphicFrameLocks noGrp="1"/>
          </p:cNvGraphicFramePr>
          <p:nvPr>
            <p:extLst>
              <p:ext uri="{D42A27DB-BD31-4B8C-83A1-F6EECF244321}">
                <p14:modId xmlns:p14="http://schemas.microsoft.com/office/powerpoint/2010/main" val="2965058862"/>
              </p:ext>
            </p:extLst>
          </p:nvPr>
        </p:nvGraphicFramePr>
        <p:xfrm>
          <a:off x="1526722" y="3630772"/>
          <a:ext cx="9138556" cy="1828800"/>
        </p:xfrm>
        <a:graphic>
          <a:graphicData uri="http://schemas.openxmlformats.org/drawingml/2006/table">
            <a:tbl>
              <a:tblPr>
                <a:tableStyleId>{5940675A-B579-460E-94D1-54222C63F5DA}</a:tableStyleId>
              </a:tblPr>
              <a:tblGrid>
                <a:gridCol w="2284639">
                  <a:extLst>
                    <a:ext uri="{9D8B030D-6E8A-4147-A177-3AD203B41FA5}">
                      <a16:colId xmlns:a16="http://schemas.microsoft.com/office/drawing/2014/main" val="2790268531"/>
                    </a:ext>
                  </a:extLst>
                </a:gridCol>
                <a:gridCol w="2284639">
                  <a:extLst>
                    <a:ext uri="{9D8B030D-6E8A-4147-A177-3AD203B41FA5}">
                      <a16:colId xmlns:a16="http://schemas.microsoft.com/office/drawing/2014/main" val="365351380"/>
                    </a:ext>
                  </a:extLst>
                </a:gridCol>
                <a:gridCol w="2284639">
                  <a:extLst>
                    <a:ext uri="{9D8B030D-6E8A-4147-A177-3AD203B41FA5}">
                      <a16:colId xmlns:a16="http://schemas.microsoft.com/office/drawing/2014/main" val="644853497"/>
                    </a:ext>
                  </a:extLst>
                </a:gridCol>
                <a:gridCol w="2284639">
                  <a:extLst>
                    <a:ext uri="{9D8B030D-6E8A-4147-A177-3AD203B41FA5}">
                      <a16:colId xmlns:a16="http://schemas.microsoft.com/office/drawing/2014/main" val="3777465228"/>
                    </a:ext>
                  </a:extLst>
                </a:gridCol>
              </a:tblGrid>
              <a:tr h="300287">
                <a:tc>
                  <a:txBody>
                    <a:bodyPr/>
                    <a:lstStyle/>
                    <a:p>
                      <a:pPr>
                        <a:buNone/>
                      </a:pPr>
                      <a:r>
                        <a:rPr lang="tr-TR"/>
                        <a:t>Link Sayısı</a:t>
                      </a:r>
                    </a:p>
                  </a:txBody>
                  <a:tcPr anchor="ctr"/>
                </a:tc>
                <a:tc>
                  <a:txBody>
                    <a:bodyPr/>
                    <a:lstStyle/>
                    <a:p>
                      <a:pPr>
                        <a:buNone/>
                      </a:pPr>
                      <a:r>
                        <a:rPr lang="tr-TR"/>
                        <a:t>“Ücretsiz”</a:t>
                      </a:r>
                    </a:p>
                  </a:txBody>
                  <a:tcPr anchor="ctr"/>
                </a:tc>
                <a:tc>
                  <a:txBody>
                    <a:bodyPr/>
                    <a:lstStyle/>
                    <a:p>
                      <a:pPr>
                        <a:buNone/>
                      </a:pPr>
                      <a:r>
                        <a:rPr lang="tr-TR" dirty="0"/>
                        <a:t>Büyük Harf Oranı (%)</a:t>
                      </a:r>
                    </a:p>
                  </a:txBody>
                  <a:tcPr anchor="ctr"/>
                </a:tc>
                <a:tc>
                  <a:txBody>
                    <a:bodyPr/>
                    <a:lstStyle/>
                    <a:p>
                      <a:pPr>
                        <a:buNone/>
                      </a:pPr>
                      <a:r>
                        <a:rPr lang="tr-TR"/>
                        <a:t>Etiket</a:t>
                      </a:r>
                    </a:p>
                  </a:txBody>
                  <a:tcPr anchor="ctr"/>
                </a:tc>
                <a:extLst>
                  <a:ext uri="{0D108BD9-81ED-4DB2-BD59-A6C34878D82A}">
                    <a16:rowId xmlns:a16="http://schemas.microsoft.com/office/drawing/2014/main" val="1804007137"/>
                  </a:ext>
                </a:extLst>
              </a:tr>
              <a:tr h="300287">
                <a:tc>
                  <a:txBody>
                    <a:bodyPr/>
                    <a:lstStyle/>
                    <a:p>
                      <a:pPr>
                        <a:buNone/>
                      </a:pPr>
                      <a:r>
                        <a:rPr lang="tr-TR"/>
                        <a:t>4</a:t>
                      </a:r>
                    </a:p>
                  </a:txBody>
                  <a:tcPr anchor="ctr"/>
                </a:tc>
                <a:tc>
                  <a:txBody>
                    <a:bodyPr/>
                    <a:lstStyle/>
                    <a:p>
                      <a:pPr>
                        <a:buNone/>
                      </a:pPr>
                      <a:r>
                        <a:rPr lang="tr-TR"/>
                        <a:t>Evet</a:t>
                      </a:r>
                    </a:p>
                  </a:txBody>
                  <a:tcPr anchor="ctr"/>
                </a:tc>
                <a:tc>
                  <a:txBody>
                    <a:bodyPr/>
                    <a:lstStyle/>
                    <a:p>
                      <a:pPr>
                        <a:buNone/>
                      </a:pPr>
                      <a:r>
                        <a:rPr lang="tr-TR"/>
                        <a:t>65</a:t>
                      </a:r>
                    </a:p>
                  </a:txBody>
                  <a:tcPr anchor="ctr"/>
                </a:tc>
                <a:tc>
                  <a:txBody>
                    <a:bodyPr/>
                    <a:lstStyle/>
                    <a:p>
                      <a:pPr>
                        <a:buNone/>
                      </a:pPr>
                      <a:r>
                        <a:rPr lang="tr-TR"/>
                        <a:t>Spam</a:t>
                      </a:r>
                    </a:p>
                  </a:txBody>
                  <a:tcPr anchor="ctr"/>
                </a:tc>
                <a:extLst>
                  <a:ext uri="{0D108BD9-81ED-4DB2-BD59-A6C34878D82A}">
                    <a16:rowId xmlns:a16="http://schemas.microsoft.com/office/drawing/2014/main" val="2577955725"/>
                  </a:ext>
                </a:extLst>
              </a:tr>
              <a:tr h="300287">
                <a:tc>
                  <a:txBody>
                    <a:bodyPr/>
                    <a:lstStyle/>
                    <a:p>
                      <a:pPr>
                        <a:buNone/>
                      </a:pPr>
                      <a:r>
                        <a:rPr lang="tr-TR"/>
                        <a:t>0</a:t>
                      </a:r>
                    </a:p>
                  </a:txBody>
                  <a:tcPr anchor="ctr"/>
                </a:tc>
                <a:tc>
                  <a:txBody>
                    <a:bodyPr/>
                    <a:lstStyle/>
                    <a:p>
                      <a:pPr>
                        <a:buNone/>
                      </a:pPr>
                      <a:r>
                        <a:rPr lang="tr-TR"/>
                        <a:t>Hayır</a:t>
                      </a:r>
                    </a:p>
                  </a:txBody>
                  <a:tcPr anchor="ctr"/>
                </a:tc>
                <a:tc>
                  <a:txBody>
                    <a:bodyPr/>
                    <a:lstStyle/>
                    <a:p>
                      <a:pPr>
                        <a:buNone/>
                      </a:pPr>
                      <a:r>
                        <a:rPr lang="tr-TR"/>
                        <a:t>8</a:t>
                      </a:r>
                    </a:p>
                  </a:txBody>
                  <a:tcPr anchor="ctr"/>
                </a:tc>
                <a:tc>
                  <a:txBody>
                    <a:bodyPr/>
                    <a:lstStyle/>
                    <a:p>
                      <a:pPr>
                        <a:buNone/>
                      </a:pPr>
                      <a:r>
                        <a:rPr lang="tr-TR"/>
                        <a:t>Spam Değil</a:t>
                      </a:r>
                    </a:p>
                  </a:txBody>
                  <a:tcPr anchor="ctr"/>
                </a:tc>
                <a:extLst>
                  <a:ext uri="{0D108BD9-81ED-4DB2-BD59-A6C34878D82A}">
                    <a16:rowId xmlns:a16="http://schemas.microsoft.com/office/drawing/2014/main" val="2295275079"/>
                  </a:ext>
                </a:extLst>
              </a:tr>
              <a:tr h="300287">
                <a:tc>
                  <a:txBody>
                    <a:bodyPr/>
                    <a:lstStyle/>
                    <a:p>
                      <a:pPr>
                        <a:buNone/>
                      </a:pPr>
                      <a:r>
                        <a:rPr lang="tr-TR"/>
                        <a:t>3</a:t>
                      </a:r>
                    </a:p>
                  </a:txBody>
                  <a:tcPr anchor="ctr"/>
                </a:tc>
                <a:tc>
                  <a:txBody>
                    <a:bodyPr/>
                    <a:lstStyle/>
                    <a:p>
                      <a:pPr>
                        <a:buNone/>
                      </a:pPr>
                      <a:r>
                        <a:rPr lang="tr-TR"/>
                        <a:t>Evet</a:t>
                      </a:r>
                    </a:p>
                  </a:txBody>
                  <a:tcPr anchor="ctr"/>
                </a:tc>
                <a:tc>
                  <a:txBody>
                    <a:bodyPr/>
                    <a:lstStyle/>
                    <a:p>
                      <a:pPr>
                        <a:buNone/>
                      </a:pPr>
                      <a:r>
                        <a:rPr lang="tr-TR"/>
                        <a:t>55</a:t>
                      </a:r>
                    </a:p>
                  </a:txBody>
                  <a:tcPr anchor="ctr"/>
                </a:tc>
                <a:tc>
                  <a:txBody>
                    <a:bodyPr/>
                    <a:lstStyle/>
                    <a:p>
                      <a:pPr>
                        <a:buNone/>
                      </a:pPr>
                      <a:r>
                        <a:rPr lang="tr-TR"/>
                        <a:t>?</a:t>
                      </a:r>
                    </a:p>
                  </a:txBody>
                  <a:tcPr anchor="ctr"/>
                </a:tc>
                <a:extLst>
                  <a:ext uri="{0D108BD9-81ED-4DB2-BD59-A6C34878D82A}">
                    <a16:rowId xmlns:a16="http://schemas.microsoft.com/office/drawing/2014/main" val="1632100058"/>
                  </a:ext>
                </a:extLst>
              </a:tr>
              <a:tr h="300287">
                <a:tc>
                  <a:txBody>
                    <a:bodyPr/>
                    <a:lstStyle/>
                    <a:p>
                      <a:pPr>
                        <a:buNone/>
                      </a:pPr>
                      <a:r>
                        <a:rPr lang="tr-TR"/>
                        <a:t>1</a:t>
                      </a:r>
                    </a:p>
                  </a:txBody>
                  <a:tcPr anchor="ctr"/>
                </a:tc>
                <a:tc>
                  <a:txBody>
                    <a:bodyPr/>
                    <a:lstStyle/>
                    <a:p>
                      <a:pPr>
                        <a:buNone/>
                      </a:pPr>
                      <a:r>
                        <a:rPr lang="tr-TR"/>
                        <a:t>Hayır</a:t>
                      </a:r>
                    </a:p>
                  </a:txBody>
                  <a:tcPr anchor="ctr"/>
                </a:tc>
                <a:tc>
                  <a:txBody>
                    <a:bodyPr/>
                    <a:lstStyle/>
                    <a:p>
                      <a:pPr>
                        <a:buNone/>
                      </a:pPr>
                      <a:r>
                        <a:rPr lang="tr-TR"/>
                        <a:t>12</a:t>
                      </a:r>
                    </a:p>
                  </a:txBody>
                  <a:tcPr anchor="ctr"/>
                </a:tc>
                <a:tc>
                  <a:txBody>
                    <a:bodyPr/>
                    <a:lstStyle/>
                    <a:p>
                      <a:pPr>
                        <a:buNone/>
                      </a:pPr>
                      <a:r>
                        <a:rPr lang="tr-TR" dirty="0"/>
                        <a:t>?</a:t>
                      </a:r>
                    </a:p>
                  </a:txBody>
                  <a:tcPr anchor="ctr"/>
                </a:tc>
                <a:extLst>
                  <a:ext uri="{0D108BD9-81ED-4DB2-BD59-A6C34878D82A}">
                    <a16:rowId xmlns:a16="http://schemas.microsoft.com/office/drawing/2014/main" val="2868219393"/>
                  </a:ext>
                </a:extLst>
              </a:tr>
            </a:tbl>
          </a:graphicData>
        </a:graphic>
      </p:graphicFrame>
    </p:spTree>
    <p:extLst>
      <p:ext uri="{BB962C8B-B14F-4D97-AF65-F5344CB8AC3E}">
        <p14:creationId xmlns:p14="http://schemas.microsoft.com/office/powerpoint/2010/main" val="2295052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C58FAFA-0021-1B02-D859-8C27304627F3}"/>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Yarı Denetimli Öğrenme Örnekleri</a:t>
            </a:r>
            <a:endParaRPr lang="tr-TR" dirty="0">
              <a:solidFill>
                <a:srgbClr val="C00000"/>
              </a:solidFill>
            </a:endParaRPr>
          </a:p>
        </p:txBody>
      </p:sp>
      <p:sp>
        <p:nvSpPr>
          <p:cNvPr id="3" name="İçerik Yer Tutucusu 2">
            <a:extLst>
              <a:ext uri="{FF2B5EF4-FFF2-40B4-BE49-F238E27FC236}">
                <a16:creationId xmlns:a16="http://schemas.microsoft.com/office/drawing/2014/main" id="{3112006C-04CF-C325-F227-12E7213E2F9D}"/>
              </a:ext>
            </a:extLst>
          </p:cNvPr>
          <p:cNvSpPr>
            <a:spLocks noGrp="1"/>
          </p:cNvSpPr>
          <p:nvPr>
            <p:ph idx="1"/>
          </p:nvPr>
        </p:nvSpPr>
        <p:spPr/>
        <p:txBody>
          <a:bodyPr>
            <a:normAutofit fontScale="92500" lnSpcReduction="20000"/>
          </a:bodyPr>
          <a:lstStyle/>
          <a:p>
            <a:pPr marL="0" indent="0">
              <a:lnSpc>
                <a:spcPct val="150000"/>
              </a:lnSpc>
              <a:buNone/>
            </a:pPr>
            <a:r>
              <a:rPr lang="tr-TR" dirty="0">
                <a:solidFill>
                  <a:schemeClr val="accent2"/>
                </a:solidFill>
                <a:latin typeface="Times New Roman" panose="02020603050405020304" pitchFamily="18" charset="0"/>
                <a:cs typeface="Times New Roman" panose="02020603050405020304" pitchFamily="18" charset="0"/>
              </a:rPr>
              <a:t>Öğrencilerin öğrenme kalıplarının belirlenmesi</a:t>
            </a:r>
            <a:endParaRPr lang="tr-TR" dirty="0">
              <a:solidFill>
                <a:srgbClr val="222222"/>
              </a:solidFill>
              <a:latin typeface="Times New Roman" panose="02020603050405020304" pitchFamily="18" charset="0"/>
              <a:cs typeface="Times New Roman" panose="02020603050405020304" pitchFamily="18" charset="0"/>
            </a:endParaRPr>
          </a:p>
          <a:p>
            <a:pPr marL="0" indent="0">
              <a:lnSpc>
                <a:spcPct val="150000"/>
              </a:lnSpc>
              <a:buNone/>
            </a:pPr>
            <a:r>
              <a:rPr lang="tr-TR" dirty="0">
                <a:solidFill>
                  <a:srgbClr val="222222"/>
                </a:solidFill>
                <a:latin typeface="Times New Roman" panose="02020603050405020304" pitchFamily="18" charset="0"/>
                <a:cs typeface="Times New Roman" panose="02020603050405020304" pitchFamily="18" charset="0"/>
              </a:rPr>
              <a:t>Sınıftaki ders videolarının incelenerek bir kısım davranışların etiketlenmesi bir kısmının ise etiketlenmesi sonucunda öğrenme kalıplarına karar verilmesi</a:t>
            </a:r>
          </a:p>
          <a:p>
            <a:pPr marL="0" indent="0">
              <a:lnSpc>
                <a:spcPct val="150000"/>
              </a:lnSpc>
              <a:buNone/>
            </a:pPr>
            <a:r>
              <a:rPr lang="tr-TR" dirty="0">
                <a:solidFill>
                  <a:schemeClr val="accent2"/>
                </a:solidFill>
                <a:latin typeface="Times New Roman" panose="02020603050405020304" pitchFamily="18" charset="0"/>
                <a:cs typeface="Times New Roman" panose="02020603050405020304" pitchFamily="18" charset="0"/>
              </a:rPr>
              <a:t>Veri hırsızlığı tespiti</a:t>
            </a:r>
          </a:p>
          <a:p>
            <a:pPr marL="0" indent="0">
              <a:lnSpc>
                <a:spcPct val="150000"/>
              </a:lnSpc>
              <a:buNone/>
            </a:pPr>
            <a:r>
              <a:rPr lang="tr-TR" b="0" i="0" u="none" strike="noStrike" dirty="0">
                <a:solidFill>
                  <a:srgbClr val="222222"/>
                </a:solidFill>
                <a:effectLst/>
                <a:latin typeface="Times New Roman" panose="02020603050405020304" pitchFamily="18" charset="0"/>
                <a:cs typeface="Times New Roman" panose="02020603050405020304" pitchFamily="18" charset="0"/>
              </a:rPr>
              <a:t>Sunuculardaki hareketlerin tümünün etiketli olmadığı durumlarda bir saldırı ya da veri hırsızlığının belirlenmesi</a:t>
            </a:r>
          </a:p>
          <a:p>
            <a:pPr marL="0" indent="0">
              <a:lnSpc>
                <a:spcPct val="150000"/>
              </a:lnSpc>
              <a:buNone/>
            </a:pPr>
            <a:r>
              <a:rPr lang="tr-TR" dirty="0">
                <a:solidFill>
                  <a:schemeClr val="accent2"/>
                </a:solidFill>
                <a:latin typeface="Times New Roman" panose="02020603050405020304" pitchFamily="18" charset="0"/>
                <a:cs typeface="Times New Roman" panose="02020603050405020304" pitchFamily="18" charset="0"/>
              </a:rPr>
              <a:t>Genetik sıralama</a:t>
            </a:r>
            <a:endParaRPr lang="tr-TR" b="0" i="0" u="none" strike="noStrike" dirty="0">
              <a:solidFill>
                <a:schemeClr val="accent2"/>
              </a:solidFill>
              <a:effectLst/>
              <a:latin typeface="Times New Roman" panose="02020603050405020304" pitchFamily="18" charset="0"/>
              <a:cs typeface="Times New Roman" panose="02020603050405020304" pitchFamily="18" charset="0"/>
            </a:endParaRPr>
          </a:p>
          <a:p>
            <a:pPr>
              <a:lnSpc>
                <a:spcPct val="150000"/>
              </a:lnSpc>
            </a:pPr>
            <a:endParaRPr lang="tr-T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856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3CE3D51-A05B-390C-6713-BBEF0AC58224}"/>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Takviyeli Öğrenme</a:t>
            </a:r>
          </a:p>
        </p:txBody>
      </p:sp>
      <p:sp>
        <p:nvSpPr>
          <p:cNvPr id="3" name="İçerik Yer Tutucusu 2">
            <a:extLst>
              <a:ext uri="{FF2B5EF4-FFF2-40B4-BE49-F238E27FC236}">
                <a16:creationId xmlns:a16="http://schemas.microsoft.com/office/drawing/2014/main" id="{8041CDAB-40EC-F382-9E68-2D82BEBFD517}"/>
              </a:ext>
            </a:extLst>
          </p:cNvPr>
          <p:cNvSpPr>
            <a:spLocks noGrp="1"/>
          </p:cNvSpPr>
          <p:nvPr>
            <p:ph idx="1"/>
          </p:nvPr>
        </p:nvSpPr>
        <p:spPr>
          <a:xfrm>
            <a:off x="838200" y="1809297"/>
            <a:ext cx="10515600" cy="4351338"/>
          </a:xfrm>
        </p:spPr>
        <p:txBody>
          <a:bodyPr>
            <a:noAutofit/>
          </a:bodyPr>
          <a:lstStyle/>
          <a:p>
            <a:pPr algn="just">
              <a:lnSpc>
                <a:spcPct val="150000"/>
              </a:lnSpc>
            </a:pPr>
            <a:r>
              <a:rPr lang="tr-TR" sz="2600" dirty="0">
                <a:solidFill>
                  <a:srgbClr val="222222"/>
                </a:solidFill>
                <a:latin typeface="Times New Roman" panose="02020603050405020304" pitchFamily="18" charset="0"/>
                <a:cs typeface="Times New Roman" panose="02020603050405020304" pitchFamily="18" charset="0"/>
              </a:rPr>
              <a:t>Takviyeli öğrenmede bir ajan (</a:t>
            </a:r>
            <a:r>
              <a:rPr lang="tr-TR" sz="2600" dirty="0" err="1">
                <a:solidFill>
                  <a:srgbClr val="222222"/>
                </a:solidFill>
                <a:latin typeface="Times New Roman" panose="02020603050405020304" pitchFamily="18" charset="0"/>
                <a:cs typeface="Times New Roman" panose="02020603050405020304" pitchFamily="18" charset="0"/>
              </a:rPr>
              <a:t>agent</a:t>
            </a:r>
            <a:r>
              <a:rPr lang="tr-TR" sz="2600" dirty="0">
                <a:solidFill>
                  <a:srgbClr val="222222"/>
                </a:solidFill>
                <a:latin typeface="Times New Roman" panose="02020603050405020304" pitchFamily="18" charset="0"/>
                <a:cs typeface="Times New Roman" panose="02020603050405020304" pitchFamily="18" charset="0"/>
              </a:rPr>
              <a:t>) ve onun etkileştiği bir ortam vardır.</a:t>
            </a:r>
          </a:p>
          <a:p>
            <a:pPr algn="just">
              <a:lnSpc>
                <a:spcPct val="150000"/>
              </a:lnSpc>
            </a:pPr>
            <a:r>
              <a:rPr lang="tr-TR" sz="2600" dirty="0">
                <a:solidFill>
                  <a:srgbClr val="222222"/>
                </a:solidFill>
                <a:latin typeface="Times New Roman" panose="02020603050405020304" pitchFamily="18" charset="0"/>
                <a:cs typeface="Times New Roman" panose="02020603050405020304" pitchFamily="18" charset="0"/>
              </a:rPr>
              <a:t>Ajan, her adımda bir eylem (</a:t>
            </a:r>
            <a:r>
              <a:rPr lang="tr-TR" sz="2600" dirty="0" err="1">
                <a:solidFill>
                  <a:srgbClr val="222222"/>
                </a:solidFill>
                <a:latin typeface="Times New Roman" panose="02020603050405020304" pitchFamily="18" charset="0"/>
                <a:cs typeface="Times New Roman" panose="02020603050405020304" pitchFamily="18" charset="0"/>
              </a:rPr>
              <a:t>action</a:t>
            </a:r>
            <a:r>
              <a:rPr lang="tr-TR" sz="2600" dirty="0">
                <a:solidFill>
                  <a:srgbClr val="222222"/>
                </a:solidFill>
                <a:latin typeface="Times New Roman" panose="02020603050405020304" pitchFamily="18" charset="0"/>
                <a:cs typeface="Times New Roman" panose="02020603050405020304" pitchFamily="18" charset="0"/>
              </a:rPr>
              <a:t>) seçer ve ortamdan bir geri bildirim alır.</a:t>
            </a:r>
          </a:p>
          <a:p>
            <a:pPr algn="just">
              <a:lnSpc>
                <a:spcPct val="150000"/>
              </a:lnSpc>
            </a:pPr>
            <a:r>
              <a:rPr lang="tr-TR" sz="2600" dirty="0">
                <a:solidFill>
                  <a:srgbClr val="222222"/>
                </a:solidFill>
                <a:latin typeface="Times New Roman" panose="02020603050405020304" pitchFamily="18" charset="0"/>
                <a:cs typeface="Times New Roman" panose="02020603050405020304" pitchFamily="18" charset="0"/>
              </a:rPr>
              <a:t>Amaç, tek tek adımlarda “doğru cevabı” bilmek değil, zaman içinde toplam ödülü en yüksek yapacak davranışı öğrenmektir.</a:t>
            </a:r>
          </a:p>
          <a:p>
            <a:pPr algn="just">
              <a:lnSpc>
                <a:spcPct val="150000"/>
              </a:lnSpc>
            </a:pPr>
            <a:r>
              <a:rPr lang="tr-TR" sz="2600" dirty="0">
                <a:solidFill>
                  <a:srgbClr val="222222"/>
                </a:solidFill>
                <a:latin typeface="Times New Roman" panose="02020603050405020304" pitchFamily="18" charset="0"/>
                <a:cs typeface="Times New Roman" panose="02020603050405020304" pitchFamily="18" charset="0"/>
              </a:rPr>
              <a:t>Denetimli öğrenmeden farkı: “doğru etiket” verilmez, sadece iyi/kötü sonuç (ödül/ceza) görülür.</a:t>
            </a:r>
          </a:p>
          <a:p>
            <a:pPr marL="0" indent="0" algn="just">
              <a:buNone/>
            </a:pPr>
            <a:br>
              <a:rPr lang="tr-TR" sz="2000" dirty="0">
                <a:latin typeface="Times New Roman" panose="02020603050405020304" pitchFamily="18" charset="0"/>
                <a:cs typeface="Times New Roman" panose="02020603050405020304" pitchFamily="18" charset="0"/>
              </a:rPr>
            </a:br>
            <a:endParaRPr lang="tr-T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66924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831C701-7870-FF57-5630-DAD3B006CE6B}"/>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Takviyeli Öğrenme Yöntemi</a:t>
            </a:r>
            <a:endParaRPr lang="tr-TR" dirty="0">
              <a:solidFill>
                <a:srgbClr val="C00000"/>
              </a:solidFill>
            </a:endParaRPr>
          </a:p>
        </p:txBody>
      </p:sp>
      <p:sp>
        <p:nvSpPr>
          <p:cNvPr id="3" name="İçerik Yer Tutucusu 2">
            <a:extLst>
              <a:ext uri="{FF2B5EF4-FFF2-40B4-BE49-F238E27FC236}">
                <a16:creationId xmlns:a16="http://schemas.microsoft.com/office/drawing/2014/main" id="{A9080A37-022E-E850-C439-5CD9ABF46FBD}"/>
              </a:ext>
            </a:extLst>
          </p:cNvPr>
          <p:cNvSpPr>
            <a:spLocks noGrp="1"/>
          </p:cNvSpPr>
          <p:nvPr>
            <p:ph idx="1"/>
          </p:nvPr>
        </p:nvSpPr>
        <p:spPr>
          <a:xfrm>
            <a:off x="1097280" y="1845734"/>
            <a:ext cx="10557043" cy="2954866"/>
          </a:xfrm>
        </p:spPr>
        <p:txBody>
          <a:bodyPr>
            <a:normAutofit lnSpcReduction="10000"/>
          </a:bodyPr>
          <a:lstStyle/>
          <a:p>
            <a:pPr algn="just"/>
            <a:r>
              <a:rPr lang="tr-TR" sz="2600" b="1" dirty="0">
                <a:solidFill>
                  <a:srgbClr val="222222"/>
                </a:solidFill>
                <a:latin typeface="Times New Roman" panose="02020603050405020304" pitchFamily="18" charset="0"/>
                <a:cs typeface="Times New Roman" panose="02020603050405020304" pitchFamily="18" charset="0"/>
              </a:rPr>
              <a:t>Durum (</a:t>
            </a:r>
            <a:r>
              <a:rPr lang="tr-TR" sz="2600" b="1" dirty="0" err="1">
                <a:solidFill>
                  <a:srgbClr val="222222"/>
                </a:solidFill>
                <a:latin typeface="Times New Roman" panose="02020603050405020304" pitchFamily="18" charset="0"/>
                <a:cs typeface="Times New Roman" panose="02020603050405020304" pitchFamily="18" charset="0"/>
              </a:rPr>
              <a:t>state</a:t>
            </a:r>
            <a:r>
              <a:rPr lang="tr-TR" sz="2600" b="1" dirty="0">
                <a:solidFill>
                  <a:srgbClr val="222222"/>
                </a:solidFill>
                <a:latin typeface="Times New Roman" panose="02020603050405020304" pitchFamily="18" charset="0"/>
                <a:cs typeface="Times New Roman" panose="02020603050405020304" pitchFamily="18" charset="0"/>
              </a:rPr>
              <a:t>): </a:t>
            </a:r>
            <a:r>
              <a:rPr lang="tr-TR" sz="2600" dirty="0">
                <a:solidFill>
                  <a:srgbClr val="222222"/>
                </a:solidFill>
                <a:latin typeface="Times New Roman" panose="02020603050405020304" pitchFamily="18" charset="0"/>
                <a:cs typeface="Times New Roman" panose="02020603050405020304" pitchFamily="18" charset="0"/>
              </a:rPr>
              <a:t>Ajanın bulunduğu anlık durum (konum, hız, skor vb.)</a:t>
            </a:r>
          </a:p>
          <a:p>
            <a:pPr algn="just"/>
            <a:r>
              <a:rPr lang="tr-TR" sz="2600" b="1" dirty="0">
                <a:solidFill>
                  <a:srgbClr val="222222"/>
                </a:solidFill>
                <a:latin typeface="Times New Roman" panose="02020603050405020304" pitchFamily="18" charset="0"/>
                <a:cs typeface="Times New Roman" panose="02020603050405020304" pitchFamily="18" charset="0"/>
              </a:rPr>
              <a:t>Eylem (</a:t>
            </a:r>
            <a:r>
              <a:rPr lang="tr-TR" sz="2600" b="1" dirty="0" err="1">
                <a:solidFill>
                  <a:srgbClr val="222222"/>
                </a:solidFill>
                <a:latin typeface="Times New Roman" panose="02020603050405020304" pitchFamily="18" charset="0"/>
                <a:cs typeface="Times New Roman" panose="02020603050405020304" pitchFamily="18" charset="0"/>
              </a:rPr>
              <a:t>action</a:t>
            </a:r>
            <a:r>
              <a:rPr lang="tr-TR" sz="2600" b="1" dirty="0">
                <a:solidFill>
                  <a:srgbClr val="222222"/>
                </a:solidFill>
                <a:latin typeface="Times New Roman" panose="02020603050405020304" pitchFamily="18" charset="0"/>
                <a:cs typeface="Times New Roman" panose="02020603050405020304" pitchFamily="18" charset="0"/>
              </a:rPr>
              <a:t>): </a:t>
            </a:r>
            <a:r>
              <a:rPr lang="tr-TR" sz="2600" dirty="0">
                <a:solidFill>
                  <a:srgbClr val="222222"/>
                </a:solidFill>
                <a:latin typeface="Times New Roman" panose="02020603050405020304" pitchFamily="18" charset="0"/>
                <a:cs typeface="Times New Roman" panose="02020603050405020304" pitchFamily="18" charset="0"/>
              </a:rPr>
              <a:t>Yapabileceği seçenek (sağa git, dur, zıpla vb.)</a:t>
            </a:r>
          </a:p>
          <a:p>
            <a:pPr algn="just"/>
            <a:r>
              <a:rPr lang="tr-TR" sz="2600" b="1" dirty="0">
                <a:solidFill>
                  <a:srgbClr val="222222"/>
                </a:solidFill>
                <a:latin typeface="Times New Roman" panose="02020603050405020304" pitchFamily="18" charset="0"/>
                <a:cs typeface="Times New Roman" panose="02020603050405020304" pitchFamily="18" charset="0"/>
              </a:rPr>
              <a:t>Ödül (</a:t>
            </a:r>
            <a:r>
              <a:rPr lang="tr-TR" sz="2600" b="1" dirty="0" err="1">
                <a:solidFill>
                  <a:srgbClr val="222222"/>
                </a:solidFill>
                <a:latin typeface="Times New Roman" panose="02020603050405020304" pitchFamily="18" charset="0"/>
                <a:cs typeface="Times New Roman" panose="02020603050405020304" pitchFamily="18" charset="0"/>
              </a:rPr>
              <a:t>reward</a:t>
            </a:r>
            <a:r>
              <a:rPr lang="tr-TR" sz="2600" b="1" dirty="0">
                <a:solidFill>
                  <a:srgbClr val="222222"/>
                </a:solidFill>
                <a:latin typeface="Times New Roman" panose="02020603050405020304" pitchFamily="18" charset="0"/>
                <a:cs typeface="Times New Roman" panose="02020603050405020304" pitchFamily="18" charset="0"/>
              </a:rPr>
              <a:t>): </a:t>
            </a:r>
            <a:r>
              <a:rPr lang="tr-TR" sz="2600" dirty="0">
                <a:solidFill>
                  <a:srgbClr val="222222"/>
                </a:solidFill>
                <a:latin typeface="Times New Roman" panose="02020603050405020304" pitchFamily="18" charset="0"/>
                <a:cs typeface="Times New Roman" panose="02020603050405020304" pitchFamily="18" charset="0"/>
              </a:rPr>
              <a:t>Ortamın verdiği geri bildirim (+10, -1 gibi)</a:t>
            </a:r>
          </a:p>
          <a:p>
            <a:pPr algn="just"/>
            <a:r>
              <a:rPr lang="tr-TR" sz="2600" dirty="0">
                <a:solidFill>
                  <a:srgbClr val="222222"/>
                </a:solidFill>
                <a:latin typeface="Times New Roman" panose="02020603050405020304" pitchFamily="18" charset="0"/>
                <a:cs typeface="Times New Roman" panose="02020603050405020304" pitchFamily="18" charset="0"/>
              </a:rPr>
              <a:t>Ajan deneme–yanılma ile öğrenir: İyi ödül getiren eylemleri daha sık seçmeyi öğrenir.</a:t>
            </a:r>
          </a:p>
          <a:p>
            <a:pPr algn="just"/>
            <a:r>
              <a:rPr lang="tr-TR" sz="2600" b="1" dirty="0">
                <a:solidFill>
                  <a:srgbClr val="222222"/>
                </a:solidFill>
                <a:latin typeface="Times New Roman" panose="02020603050405020304" pitchFamily="18" charset="0"/>
                <a:cs typeface="Times New Roman" panose="02020603050405020304" pitchFamily="18" charset="0"/>
              </a:rPr>
              <a:t>Öğrenmenin hedefi: </a:t>
            </a:r>
            <a:r>
              <a:rPr lang="tr-TR" sz="2600" dirty="0">
                <a:solidFill>
                  <a:srgbClr val="222222"/>
                </a:solidFill>
                <a:latin typeface="Times New Roman" panose="02020603050405020304" pitchFamily="18" charset="0"/>
                <a:cs typeface="Times New Roman" panose="02020603050405020304" pitchFamily="18" charset="0"/>
              </a:rPr>
              <a:t>Her durumda hangi eylemi seçeceğini söyleyen politika (</a:t>
            </a:r>
            <a:r>
              <a:rPr lang="tr-TR" sz="2600" dirty="0" err="1">
                <a:solidFill>
                  <a:srgbClr val="222222"/>
                </a:solidFill>
                <a:latin typeface="Times New Roman" panose="02020603050405020304" pitchFamily="18" charset="0"/>
                <a:cs typeface="Times New Roman" panose="02020603050405020304" pitchFamily="18" charset="0"/>
              </a:rPr>
              <a:t>policy</a:t>
            </a:r>
            <a:r>
              <a:rPr lang="tr-TR" sz="2600" dirty="0">
                <a:solidFill>
                  <a:srgbClr val="222222"/>
                </a:solidFill>
                <a:latin typeface="Times New Roman" panose="02020603050405020304" pitchFamily="18" charset="0"/>
                <a:cs typeface="Times New Roman" panose="02020603050405020304" pitchFamily="18" charset="0"/>
              </a:rPr>
              <a:t>) geliştirmektir.</a:t>
            </a:r>
          </a:p>
          <a:p>
            <a:pPr algn="l"/>
            <a:endParaRPr lang="tr-TR" dirty="0">
              <a:latin typeface="Source Serif Pro" panose="020F0502020204030204" pitchFamily="34" charset="0"/>
            </a:endParaRPr>
          </a:p>
          <a:p>
            <a:pPr algn="l"/>
            <a:endParaRPr lang="tr-TR" dirty="0">
              <a:solidFill>
                <a:srgbClr val="292929"/>
              </a:solidFill>
              <a:latin typeface="Times New Roman" panose="02020603050405020304" pitchFamily="18" charset="0"/>
              <a:cs typeface="Times New Roman" panose="02020603050405020304" pitchFamily="18" charset="0"/>
            </a:endParaRPr>
          </a:p>
          <a:p>
            <a:endParaRPr lang="tr-TR" dirty="0">
              <a:latin typeface="Times New Roman" panose="02020603050405020304" pitchFamily="18" charset="0"/>
              <a:cs typeface="Times New Roman" panose="02020603050405020304" pitchFamily="18" charset="0"/>
            </a:endParaRPr>
          </a:p>
        </p:txBody>
      </p:sp>
      <p:pic>
        <p:nvPicPr>
          <p:cNvPr id="4" name="Resim 3">
            <a:extLst>
              <a:ext uri="{FF2B5EF4-FFF2-40B4-BE49-F238E27FC236}">
                <a16:creationId xmlns:a16="http://schemas.microsoft.com/office/drawing/2014/main" id="{305B3228-593B-F18E-1E77-57C47FF2121A}"/>
              </a:ext>
            </a:extLst>
          </p:cNvPr>
          <p:cNvPicPr>
            <a:picLocks noChangeAspect="1"/>
          </p:cNvPicPr>
          <p:nvPr/>
        </p:nvPicPr>
        <p:blipFill>
          <a:blip r:embed="rId3"/>
          <a:stretch>
            <a:fillRect/>
          </a:stretch>
        </p:blipFill>
        <p:spPr>
          <a:xfrm>
            <a:off x="6096000" y="4800600"/>
            <a:ext cx="5558323" cy="1949412"/>
          </a:xfrm>
          <a:prstGeom prst="rect">
            <a:avLst/>
          </a:prstGeom>
        </p:spPr>
      </p:pic>
    </p:spTree>
    <p:extLst>
      <p:ext uri="{BB962C8B-B14F-4D97-AF65-F5344CB8AC3E}">
        <p14:creationId xmlns:p14="http://schemas.microsoft.com/office/powerpoint/2010/main" val="1573177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8791722-FF31-1141-0F12-3ACBE68797DF}"/>
              </a:ext>
            </a:extLst>
          </p:cNvPr>
          <p:cNvSpPr>
            <a:spLocks noGrp="1"/>
          </p:cNvSpPr>
          <p:nvPr>
            <p:ph idx="1"/>
          </p:nvPr>
        </p:nvSpPr>
        <p:spPr>
          <a:xfrm>
            <a:off x="1157440" y="1845734"/>
            <a:ext cx="10058400" cy="4023360"/>
          </a:xfrm>
        </p:spPr>
        <p:txBody>
          <a:bodyPr/>
          <a:lstStyle/>
          <a:p>
            <a:r>
              <a:rPr lang="tr-TR" b="0" i="0" u="none" strike="noStrike" dirty="0">
                <a:solidFill>
                  <a:srgbClr val="292929"/>
                </a:solidFill>
                <a:effectLst/>
                <a:latin typeface="Times New Roman" panose="02020603050405020304" pitchFamily="18" charset="0"/>
                <a:cs typeface="Times New Roman" panose="02020603050405020304" pitchFamily="18" charset="0"/>
              </a:rPr>
              <a:t>Robotik</a:t>
            </a:r>
          </a:p>
          <a:p>
            <a:r>
              <a:rPr lang="tr-TR" dirty="0">
                <a:solidFill>
                  <a:srgbClr val="292929"/>
                </a:solidFill>
                <a:latin typeface="Times New Roman" panose="02020603050405020304" pitchFamily="18" charset="0"/>
                <a:cs typeface="Times New Roman" panose="02020603050405020304" pitchFamily="18" charset="0"/>
              </a:rPr>
              <a:t>O</a:t>
            </a:r>
            <a:r>
              <a:rPr lang="tr-TR" b="0" i="0" u="none" strike="noStrike" dirty="0">
                <a:solidFill>
                  <a:srgbClr val="292929"/>
                </a:solidFill>
                <a:effectLst/>
                <a:latin typeface="Times New Roman" panose="02020603050405020304" pitchFamily="18" charset="0"/>
                <a:cs typeface="Times New Roman" panose="02020603050405020304" pitchFamily="18" charset="0"/>
              </a:rPr>
              <a:t>yun programlama</a:t>
            </a:r>
          </a:p>
          <a:p>
            <a:r>
              <a:rPr lang="tr-TR" dirty="0">
                <a:solidFill>
                  <a:srgbClr val="292929"/>
                </a:solidFill>
                <a:latin typeface="Times New Roman" panose="02020603050405020304" pitchFamily="18" charset="0"/>
                <a:cs typeface="Times New Roman" panose="02020603050405020304" pitchFamily="18" charset="0"/>
              </a:rPr>
              <a:t>H</a:t>
            </a:r>
            <a:r>
              <a:rPr lang="tr-TR" b="0" i="0" u="none" strike="noStrike" dirty="0">
                <a:solidFill>
                  <a:srgbClr val="292929"/>
                </a:solidFill>
                <a:effectLst/>
                <a:latin typeface="Times New Roman" panose="02020603050405020304" pitchFamily="18" charset="0"/>
                <a:cs typeface="Times New Roman" panose="02020603050405020304" pitchFamily="18" charset="0"/>
              </a:rPr>
              <a:t>astalık tanı ve teşhisi</a:t>
            </a:r>
          </a:p>
          <a:p>
            <a:r>
              <a:rPr lang="tr-TR" dirty="0">
                <a:solidFill>
                  <a:srgbClr val="292929"/>
                </a:solidFill>
                <a:latin typeface="Times New Roman" panose="02020603050405020304" pitchFamily="18" charset="0"/>
                <a:cs typeface="Times New Roman" panose="02020603050405020304" pitchFamily="18" charset="0"/>
              </a:rPr>
              <a:t>Fabrika o</a:t>
            </a:r>
            <a:r>
              <a:rPr lang="tr-TR" b="0" i="0" u="none" strike="noStrike" dirty="0">
                <a:solidFill>
                  <a:srgbClr val="292929"/>
                </a:solidFill>
                <a:effectLst/>
                <a:latin typeface="Times New Roman" panose="02020603050405020304" pitchFamily="18" charset="0"/>
                <a:cs typeface="Times New Roman" panose="02020603050405020304" pitchFamily="18" charset="0"/>
              </a:rPr>
              <a:t>tomasyonları</a:t>
            </a:r>
            <a:endParaRPr lang="tr-TR" dirty="0">
              <a:latin typeface="Times New Roman" panose="02020603050405020304" pitchFamily="18" charset="0"/>
              <a:cs typeface="Times New Roman" panose="02020603050405020304" pitchFamily="18" charset="0"/>
            </a:endParaRPr>
          </a:p>
        </p:txBody>
      </p:sp>
      <p:sp>
        <p:nvSpPr>
          <p:cNvPr id="4" name="Başlık 1">
            <a:extLst>
              <a:ext uri="{FF2B5EF4-FFF2-40B4-BE49-F238E27FC236}">
                <a16:creationId xmlns:a16="http://schemas.microsoft.com/office/drawing/2014/main" id="{C03369B6-0E5C-51B5-B211-B4E0120AD0FB}"/>
              </a:ext>
            </a:extLst>
          </p:cNvPr>
          <p:cNvSpPr>
            <a:spLocks noGrp="1"/>
          </p:cNvSpPr>
          <p:nvPr>
            <p:ph type="title"/>
          </p:nvPr>
        </p:nvSpPr>
        <p:spPr/>
        <p:txBody>
          <a:bodyPr/>
          <a:lstStyle/>
          <a:p>
            <a:r>
              <a:rPr lang="tr-TR" dirty="0">
                <a:solidFill>
                  <a:srgbClr val="C00000"/>
                </a:solidFill>
                <a:latin typeface="Times New Roman" panose="02020603050405020304" pitchFamily="18" charset="0"/>
                <a:cs typeface="Times New Roman" panose="02020603050405020304" pitchFamily="18" charset="0"/>
              </a:rPr>
              <a:t>Takviyeli Öğrenme Örnekleri</a:t>
            </a:r>
          </a:p>
        </p:txBody>
      </p:sp>
    </p:spTree>
    <p:extLst>
      <p:ext uri="{BB962C8B-B14F-4D97-AF65-F5344CB8AC3E}">
        <p14:creationId xmlns:p14="http://schemas.microsoft.com/office/powerpoint/2010/main" val="745910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19E6A6E-FD5F-ABFF-2930-2622F5C266B5}"/>
              </a:ext>
            </a:extLst>
          </p:cNvPr>
          <p:cNvSpPr>
            <a:spLocks noGrp="1"/>
          </p:cNvSpPr>
          <p:nvPr>
            <p:ph type="title"/>
          </p:nvPr>
        </p:nvSpPr>
        <p:spPr>
          <a:xfrm>
            <a:off x="838200" y="365125"/>
            <a:ext cx="10515600" cy="501149"/>
          </a:xfrm>
        </p:spPr>
        <p:txBody>
          <a:bodyPr>
            <a:normAutofit fontScale="90000"/>
          </a:bodyPr>
          <a:lstStyle/>
          <a:p>
            <a:r>
              <a:rPr lang="tr-TR" dirty="0">
                <a:solidFill>
                  <a:srgbClr val="C00000"/>
                </a:solidFill>
              </a:rPr>
              <a:t>Veri Seti ve </a:t>
            </a:r>
            <a:r>
              <a:rPr lang="tr-TR" dirty="0" err="1">
                <a:solidFill>
                  <a:srgbClr val="C00000"/>
                </a:solidFill>
              </a:rPr>
              <a:t>Rapidminer</a:t>
            </a:r>
            <a:r>
              <a:rPr lang="tr-TR" dirty="0">
                <a:solidFill>
                  <a:srgbClr val="C00000"/>
                </a:solidFill>
              </a:rPr>
              <a:t> Bilgisi</a:t>
            </a:r>
          </a:p>
        </p:txBody>
      </p:sp>
      <p:sp>
        <p:nvSpPr>
          <p:cNvPr id="3" name="İçerik Yer Tutucusu 2">
            <a:extLst>
              <a:ext uri="{FF2B5EF4-FFF2-40B4-BE49-F238E27FC236}">
                <a16:creationId xmlns:a16="http://schemas.microsoft.com/office/drawing/2014/main" id="{46846611-7162-0F32-FDE0-9A2F27C5BFE3}"/>
              </a:ext>
            </a:extLst>
          </p:cNvPr>
          <p:cNvSpPr>
            <a:spLocks noGrp="1"/>
          </p:cNvSpPr>
          <p:nvPr>
            <p:ph idx="1"/>
          </p:nvPr>
        </p:nvSpPr>
        <p:spPr>
          <a:xfrm>
            <a:off x="994611" y="1091698"/>
            <a:ext cx="10515600" cy="5766302"/>
          </a:xfrm>
        </p:spPr>
        <p:txBody>
          <a:bodyPr>
            <a:normAutofit fontScale="85000" lnSpcReduction="20000"/>
          </a:bodyPr>
          <a:lstStyle/>
          <a:p>
            <a:pPr marL="0" indent="0">
              <a:buNone/>
            </a:pPr>
            <a:r>
              <a:rPr lang="tr-TR" dirty="0">
                <a:solidFill>
                  <a:srgbClr val="C00000"/>
                </a:solidFill>
              </a:rPr>
              <a:t>Veri Setleri;</a:t>
            </a:r>
          </a:p>
          <a:p>
            <a:pPr marL="0" indent="0">
              <a:buNone/>
            </a:pPr>
            <a:r>
              <a:rPr lang="tr-TR" b="1" dirty="0" err="1"/>
              <a:t>Kaggle:</a:t>
            </a:r>
            <a:r>
              <a:rPr lang="tr-TR" dirty="0" err="1"/>
              <a:t>Her</a:t>
            </a:r>
            <a:r>
              <a:rPr lang="tr-TR" dirty="0"/>
              <a:t> seviyeye uygun binlerce açık veri seti</a:t>
            </a:r>
          </a:p>
          <a:p>
            <a:pPr marL="0" indent="0">
              <a:buNone/>
            </a:pPr>
            <a:r>
              <a:rPr lang="tr-TR" dirty="0"/>
              <a:t> </a:t>
            </a:r>
            <a:r>
              <a:rPr lang="tr-TR" dirty="0">
                <a:hlinkClick r:id="rId3"/>
              </a:rPr>
              <a:t>https://www.kaggle.com/datasets</a:t>
            </a:r>
            <a:endParaRPr lang="tr-TR" dirty="0"/>
          </a:p>
          <a:p>
            <a:pPr marL="0" indent="0">
              <a:buNone/>
            </a:pPr>
            <a:r>
              <a:rPr lang="tr-TR" dirty="0"/>
              <a:t>UCI: Makine öğrenimi veri setlerinin klasik adresi </a:t>
            </a:r>
          </a:p>
          <a:p>
            <a:r>
              <a:rPr lang="tr-TR" dirty="0">
                <a:hlinkClick r:id="rId4"/>
              </a:rPr>
              <a:t>https://archive.ics.uci.edu/ml/datasets</a:t>
            </a:r>
            <a:endParaRPr lang="tr-TR" dirty="0"/>
          </a:p>
          <a:p>
            <a:pPr marL="0" indent="0">
              <a:buNone/>
            </a:pPr>
            <a:r>
              <a:rPr lang="tr-TR" dirty="0" err="1"/>
              <a:t>Data.gov</a:t>
            </a:r>
            <a:r>
              <a:rPr lang="tr-TR" dirty="0"/>
              <a:t>: Kamu verileri portalı (sosyal, sağlık, ekonomi vb.)</a:t>
            </a:r>
          </a:p>
          <a:p>
            <a:r>
              <a:rPr lang="tr-TR" dirty="0">
                <a:hlinkClick r:id="rId5"/>
              </a:rPr>
              <a:t>https://www.data.gov/</a:t>
            </a:r>
            <a:endParaRPr lang="tr-TR" dirty="0"/>
          </a:p>
          <a:p>
            <a:pPr marL="0" indent="0">
              <a:buNone/>
            </a:pPr>
            <a:r>
              <a:rPr lang="tr-TR" dirty="0"/>
              <a:t>Google </a:t>
            </a:r>
            <a:r>
              <a:rPr lang="tr-TR" dirty="0" err="1"/>
              <a:t>Dataset</a:t>
            </a:r>
            <a:r>
              <a:rPr lang="tr-TR" dirty="0"/>
              <a:t> </a:t>
            </a:r>
            <a:r>
              <a:rPr lang="tr-TR" dirty="0" err="1"/>
              <a:t>Search</a:t>
            </a:r>
            <a:r>
              <a:rPr lang="tr-TR" dirty="0"/>
              <a:t>: Anahtar kelimeyle </a:t>
            </a:r>
            <a:r>
              <a:rPr lang="tr-TR" dirty="0" err="1"/>
              <a:t>dataset</a:t>
            </a:r>
            <a:r>
              <a:rPr lang="tr-TR" dirty="0"/>
              <a:t> arama aracı –</a:t>
            </a:r>
          </a:p>
          <a:p>
            <a:r>
              <a:rPr lang="tr-TR" dirty="0">
                <a:hlinkClick r:id="rId6"/>
              </a:rPr>
              <a:t>https://datasetsearch.research.google.com/</a:t>
            </a:r>
            <a:endParaRPr lang="tr-TR" dirty="0"/>
          </a:p>
          <a:p>
            <a:pPr marL="0" indent="0">
              <a:buNone/>
            </a:pPr>
            <a:r>
              <a:rPr lang="tr-TR" b="1" dirty="0" err="1"/>
              <a:t>OpenML</a:t>
            </a:r>
            <a:r>
              <a:rPr lang="tr-TR" b="1" dirty="0"/>
              <a:t>:</a:t>
            </a:r>
            <a:r>
              <a:rPr lang="tr-TR" dirty="0"/>
              <a:t> Paylaşımlı ML veri setleri ve deneyler – </a:t>
            </a:r>
            <a:r>
              <a:rPr lang="tr-TR" dirty="0">
                <a:hlinkClick r:id="rId7"/>
              </a:rPr>
              <a:t>https://www.openml.org/</a:t>
            </a:r>
            <a:endParaRPr lang="tr-TR" dirty="0"/>
          </a:p>
          <a:p>
            <a:r>
              <a:rPr lang="tr-TR" dirty="0">
                <a:hlinkClick r:id="rId8"/>
              </a:rPr>
              <a:t>https://www.openml.org/search?type=data</a:t>
            </a:r>
            <a:endParaRPr lang="tr-TR" dirty="0"/>
          </a:p>
          <a:p>
            <a:endParaRPr lang="tr-TR" dirty="0">
              <a:hlinkClick r:id="rId9"/>
            </a:endParaRPr>
          </a:p>
          <a:p>
            <a:pPr marL="0" indent="0">
              <a:buNone/>
            </a:pPr>
            <a:r>
              <a:rPr lang="tr-TR" dirty="0">
                <a:solidFill>
                  <a:srgbClr val="C00000"/>
                </a:solidFill>
              </a:rPr>
              <a:t>Rapidminer</a:t>
            </a:r>
            <a:endParaRPr lang="tr-TR" dirty="0">
              <a:solidFill>
                <a:srgbClr val="C00000"/>
              </a:solidFill>
              <a:hlinkClick r:id="rId9">
                <a:extLst>
                  <a:ext uri="{A12FA001-AC4F-418D-AE19-62706E023703}">
                    <ahyp:hlinkClr xmlns:ahyp="http://schemas.microsoft.com/office/drawing/2018/hyperlinkcolor" val="tx"/>
                  </a:ext>
                </a:extLst>
              </a:hlinkClick>
            </a:endParaRPr>
          </a:p>
          <a:p>
            <a:r>
              <a:rPr lang="tr-TR" dirty="0">
                <a:solidFill>
                  <a:srgbClr val="96607D"/>
                </a:solidFill>
                <a:hlinkClick r:id="rId9">
                  <a:extLst>
                    <a:ext uri="{A12FA001-AC4F-418D-AE19-62706E023703}">
                      <ahyp:hlinkClr xmlns:ahyp="http://schemas.microsoft.com/office/drawing/2018/hyperlinkcolor" val="tx"/>
                    </a:ext>
                  </a:extLst>
                </a:hlinkClick>
              </a:rPr>
              <a:t>https://my.rapidminer.com/</a:t>
            </a:r>
            <a:endParaRPr lang="tr-TR" dirty="0"/>
          </a:p>
          <a:p>
            <a:endParaRPr lang="tr-TR" dirty="0"/>
          </a:p>
        </p:txBody>
      </p:sp>
    </p:spTree>
    <p:extLst>
      <p:ext uri="{BB962C8B-B14F-4D97-AF65-F5344CB8AC3E}">
        <p14:creationId xmlns:p14="http://schemas.microsoft.com/office/powerpoint/2010/main" val="1725831990"/>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1208</TotalTime>
  <Words>1205</Words>
  <Application>Microsoft Macintosh PowerPoint</Application>
  <PresentationFormat>Geniş ekran</PresentationFormat>
  <Paragraphs>211</Paragraphs>
  <Slides>27</Slides>
  <Notes>3</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27</vt:i4>
      </vt:variant>
    </vt:vector>
  </HeadingPairs>
  <TitlesOfParts>
    <vt:vector size="33" baseType="lpstr">
      <vt:lpstr>Aptos</vt:lpstr>
      <vt:lpstr>Aptos Display</vt:lpstr>
      <vt:lpstr>Arial</vt:lpstr>
      <vt:lpstr>Source Serif Pro</vt:lpstr>
      <vt:lpstr>Times New Roman</vt:lpstr>
      <vt:lpstr>Office Teması</vt:lpstr>
      <vt:lpstr>Veri Madenciliği</vt:lpstr>
      <vt:lpstr>Veri Madenciliği Süreci</vt:lpstr>
      <vt:lpstr>Veri Madenciliği Süreci</vt:lpstr>
      <vt:lpstr>Veri Modelleme </vt:lpstr>
      <vt:lpstr>Veri Modelleme </vt:lpstr>
      <vt:lpstr>Veri Modelleme Analiz Yaklaşımları</vt:lpstr>
      <vt:lpstr>Veri Modelleme Analiz Yaklaşımları  Problem Amacına Göre</vt:lpstr>
      <vt:lpstr>Veri Modelleme Analiz Yaklaşımları Tahmin/Tanımlama</vt:lpstr>
      <vt:lpstr>Tahmin edici yöntemler</vt:lpstr>
      <vt:lpstr>Tanımlayıcı yöntemler</vt:lpstr>
      <vt:lpstr>Veri Modelleme Analiz Yaklaşımları  Veri Seti Hedef Değere Göre</vt:lpstr>
      <vt:lpstr>Denetimli Öğrenme</vt:lpstr>
      <vt:lpstr>Denetimli Öğrenmede Kullanılan Teknikler</vt:lpstr>
      <vt:lpstr>Denetimli Öğrenme Örneği</vt:lpstr>
      <vt:lpstr>Denetimli Öğrenme Örneği</vt:lpstr>
      <vt:lpstr>Denetimli Öğrenme</vt:lpstr>
      <vt:lpstr>Denetimsiz Öğrenme</vt:lpstr>
      <vt:lpstr>Denetimsiz Öğrenme</vt:lpstr>
      <vt:lpstr>Denetimsiz Öğrenme Yöntemleri</vt:lpstr>
      <vt:lpstr>Denetimsiz Öğrenme Örnekleri</vt:lpstr>
      <vt:lpstr>Yarı Denetimli Öğrenme</vt:lpstr>
      <vt:lpstr>Yarı Denetimli Öğrenme Yöntemleri</vt:lpstr>
      <vt:lpstr>Yarı Denetimli Öğrenme Örnekleri</vt:lpstr>
      <vt:lpstr>Takviyeli Öğrenme</vt:lpstr>
      <vt:lpstr>Takviyeli Öğrenme Yöntemi</vt:lpstr>
      <vt:lpstr>Takviyeli Öğrenme Örnekleri</vt:lpstr>
      <vt:lpstr>Veri Seti ve Rapidminer Bilgisi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Author</dc:creator>
  <cp:lastModifiedBy>Author</cp:lastModifiedBy>
  <cp:revision>9</cp:revision>
  <dcterms:created xsi:type="dcterms:W3CDTF">2026-02-10T22:00:38Z</dcterms:created>
  <dcterms:modified xsi:type="dcterms:W3CDTF">2026-02-25T03:46:35Z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2026-02-10T22:28:37Z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89bb3e44-deea-4987-90b1-b33842d4e015</vt:lpwstr>
  </property>
  <property fmtid="{D5CDD505-2E9C-101B-9397-08002B2CF9AE}" pid="7" name="MSIP_Label_defa4170-0d19-0005-0004-bc88714345d2_ActionId">
    <vt:lpwstr>f3945824-ebb5-4b86-831c-c22cf0a7b2df</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